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Open Sans 1 Semi-Bold" charset="1" panose="00000000000000000000"/>
      <p:regular r:id="rId33"/>
    </p:embeddedFont>
    <p:embeddedFont>
      <p:font typeface="Inter Bold" charset="1" panose="020B0802030000000004"/>
      <p:regular r:id="rId34"/>
    </p:embeddedFont>
    <p:embeddedFont>
      <p:font typeface="Open Sans 1 Medium" charset="1" panose="00000000000000000000"/>
      <p:regular r:id="rId35"/>
    </p:embeddedFont>
    <p:embeddedFont>
      <p:font typeface="Open Sans 1 Bold" charset="1" panose="00000000000000000000"/>
      <p:regular r:id="rId36"/>
    </p:embeddedFont>
    <p:embeddedFont>
      <p:font typeface="Open Sans 1" charset="1" panose="00000000000000000000"/>
      <p:regular r:id="rId37"/>
    </p:embeddedFont>
    <p:embeddedFont>
      <p:font typeface="Open Sans 2" charset="1" panose="020B0606030504020204"/>
      <p:regular r:id="rId38"/>
    </p:embeddedFont>
    <p:embeddedFont>
      <p:font typeface="Canva Sans Bold" charset="1" panose="020B0803030501040103"/>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notesSlides/notesSlide2.xml" Type="http://schemas.openxmlformats.org/officeDocument/2006/relationships/notesSlide"/><Relationship Id="rId4" Target="theme/theme1.xml" Type="http://schemas.openxmlformats.org/officeDocument/2006/relationships/theme"/><Relationship Id="rId40" Target="notesSlides/notesSlide3.xml" Type="http://schemas.openxmlformats.org/officeDocument/2006/relationships/notesSlide"/><Relationship Id="rId41" Target="notesSlides/notesSlide4.xml" Type="http://schemas.openxmlformats.org/officeDocument/2006/relationships/notesSlide"/><Relationship Id="rId42" Target="fonts/font42.fntdata" Type="http://schemas.openxmlformats.org/officeDocument/2006/relationships/font"/><Relationship Id="rId43" Target="notesSlides/notesSlide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add a photo (background fading)</a:t>
            </a:r>
          </a:p>
          <a:p>
            <a:r>
              <a:rPr lang="en-US"/>
              <a:t/>
            </a:r>
          </a:p>
          <a:p>
            <a:r>
              <a:rPr lang="en-US"/>
              <a:t>one pager</a:t>
            </a:r>
          </a:p>
          <a:p>
            <a:r>
              <a:rPr lang="en-US"/>
              <a:t/>
            </a:r>
          </a:p>
          <a:p>
            <a:r>
              <a:rPr lang="en-US"/>
              <a:t>font consistent check </a:t>
            </a:r>
          </a:p>
          <a:p>
            <a:r>
              <a:rPr lang="en-US"/>
              <a:t/>
            </a:r>
          </a:p>
          <a:p>
            <a:r>
              <a:rPr lang="en-US"/>
              <a:t>alignments</a:t>
            </a:r>
          </a:p>
          <a:p>
            <a:r>
              <a:rPr lang="en-US"/>
              <a:t/>
            </a:r>
          </a:p>
          <a:p>
            <a:r>
              <a:rPr lang="en-US"/>
              <a:t>all formating check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Software Testing</a:t>
            </a:r>
          </a:p>
          <a:p>
            <a:r>
              <a:rPr lang="en-US"/>
              <a:t>Reduction:</a:t>
            </a:r>
          </a:p>
          <a:p>
            <a:r>
              <a:rPr lang="en-US"/>
              <a:t/>
            </a:r>
          </a:p>
          <a:p>
            <a:r>
              <a:rPr lang="en-US"/>
              <a:t>Manual Testers — AI-driven testing tools (like Testim, Mabl) can automatically generate, run, and update test scripts, reducing the need for repetitive manual QA work.</a:t>
            </a:r>
          </a:p>
          <a:p>
            <a:r>
              <a:rPr lang="en-US"/>
              <a:t/>
            </a:r>
          </a:p>
          <a:p>
            <a:r>
              <a:rPr lang="en-US"/>
              <a:t>Increase:</a:t>
            </a:r>
          </a:p>
          <a:p>
            <a:r>
              <a:rPr lang="en-US"/>
              <a:t/>
            </a:r>
          </a:p>
          <a:p>
            <a:r>
              <a:rPr lang="en-US"/>
              <a:t>AI Test Automation Engineers — Specialists who train AI models for test coverage and integrate them into CI/CD pipelines.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Software Testing</a:t>
            </a:r>
          </a:p>
          <a:p>
            <a:r>
              <a:rPr lang="en-US"/>
              <a:t>Reduction:</a:t>
            </a:r>
          </a:p>
          <a:p>
            <a:r>
              <a:rPr lang="en-US"/>
              <a:t/>
            </a:r>
          </a:p>
          <a:p>
            <a:r>
              <a:rPr lang="en-US"/>
              <a:t>Manual Testers — AI-driven testing tools (like Testim, Mabl) can automatically generate, run, and update test scripts, reducing the need for repetitive manual QA work.</a:t>
            </a:r>
          </a:p>
          <a:p>
            <a:r>
              <a:rPr lang="en-US"/>
              <a:t/>
            </a:r>
          </a:p>
          <a:p>
            <a:r>
              <a:rPr lang="en-US"/>
              <a:t>Increase:</a:t>
            </a:r>
          </a:p>
          <a:p>
            <a:r>
              <a:rPr lang="en-US"/>
              <a:t/>
            </a:r>
          </a:p>
          <a:p>
            <a:r>
              <a:rPr lang="en-US"/>
              <a:t>AI Test Automation Engineers — Specialists who train AI models for test coverage and integrate them into CI/CD pipelines.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The Zomato-Style Résumé</a:t>
            </a:r>
          </a:p>
          <a:p>
            <a:r>
              <a:rPr lang="en-US"/>
              <a:t>Who: An aspiring marketing professional in India.</a:t>
            </a:r>
          </a:p>
          <a:p>
            <a:r>
              <a:rPr lang="en-US"/>
              <a:t/>
            </a:r>
          </a:p>
          <a:p>
            <a:r>
              <a:rPr lang="en-US"/>
              <a:t>What they did: Designed their résumé to look exactly like a Zomato restaurant listing — complete with ratings, “delivery time,” “menu” of skills, “reviews” from ex-colleagues, and “special offers” (unique strengths).</a:t>
            </a:r>
          </a:p>
          <a:p>
            <a:r>
              <a:rPr lang="en-US"/>
              <a:t/>
            </a:r>
          </a:p>
          <a:p>
            <a:r>
              <a:rPr lang="en-US"/>
              <a:t>Impact: Zomato’s HR team noticed it on LinkedIn and actually reached out, leading to interview calls.</a:t>
            </a:r>
          </a:p>
          <a:p>
            <a:r>
              <a:rPr lang="en-US"/>
              <a:t/>
            </a:r>
          </a:p>
          <a:p>
            <a:r>
              <a:rPr lang="en-US"/>
              <a:t>Why it worked: Showed brand awareness, design skills, and humor in a format the company instantly related 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Tata Consultancy Services (TCS) confirmed it could let go of up to 12,000 people this year, which is roughly 2% of its global headcount.</a:t>
            </a:r>
          </a:p>
          <a:p>
            <a:r>
              <a:rPr lang="en-US"/>
              <a:t/>
            </a:r>
          </a:p>
          <a:p>
            <a:r>
              <a:rPr lang="en-US"/>
              <a:t>At the same time, HCL announced that junior employees get only a token 1-4% raise in salary, while mid-level employees have yet to get any. Infosys, the once voracious campus recruiter, onboarded just 210 people last quarter.</a:t>
            </a:r>
          </a:p>
          <a:p>
            <a:r>
              <a:rPr lang="en-US"/>
              <a:t/>
            </a:r>
          </a:p>
          <a:p>
            <a:r>
              <a:rPr lang="en-US"/>
              <a:t>Microsoft is also laying off thousands of people in its Azure cloud unit. Intel is laying off 24,000 workers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0.png" Type="http://schemas.openxmlformats.org/officeDocument/2006/relationships/image"/><Relationship Id="rId4" Target="https://teams.live.com/meet/9332709055784?p=jq10rRrFglZUixdBW7" TargetMode="External" Type="http://schemas.openxmlformats.org/officeDocument/2006/relationships/hyperlink"/><Relationship Id="rId5"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9CFC2"/>
        </a:solidFill>
      </p:bgPr>
    </p:bg>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AutoShape 5" id="5"/>
          <p:cNvSpPr/>
          <p:nvPr/>
        </p:nvSpPr>
        <p:spPr>
          <a:xfrm flipV="true">
            <a:off x="0" y="8629692"/>
            <a:ext cx="21812698" cy="0"/>
          </a:xfrm>
          <a:prstGeom prst="line">
            <a:avLst/>
          </a:prstGeom>
          <a:ln cap="flat" w="38100">
            <a:solidFill>
              <a:srgbClr val="188AB2"/>
            </a:solidFill>
            <a:prstDash val="solid"/>
            <a:headEnd type="none" len="sm" w="sm"/>
            <a:tailEnd type="none" len="sm" w="sm"/>
          </a:ln>
        </p:spPr>
      </p:sp>
      <p:grpSp>
        <p:nvGrpSpPr>
          <p:cNvPr name="Group 6" id="6"/>
          <p:cNvGrpSpPr/>
          <p:nvPr/>
        </p:nvGrpSpPr>
        <p:grpSpPr>
          <a:xfrm rot="0">
            <a:off x="1074658" y="5553371"/>
            <a:ext cx="447675" cy="447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AB2"/>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TextBox 9" id="9"/>
          <p:cNvSpPr txBox="true"/>
          <p:nvPr/>
        </p:nvSpPr>
        <p:spPr>
          <a:xfrm rot="0">
            <a:off x="1340052" y="9200894"/>
            <a:ext cx="3302104" cy="433632"/>
          </a:xfrm>
          <a:prstGeom prst="rect">
            <a:avLst/>
          </a:prstGeom>
        </p:spPr>
        <p:txBody>
          <a:bodyPr anchor="t" rtlCol="false" tIns="0" lIns="0" bIns="0" rIns="0">
            <a:spAutoFit/>
          </a:bodyPr>
          <a:lstStyle/>
          <a:p>
            <a:pPr algn="l">
              <a:lnSpc>
                <a:spcPts val="3517"/>
              </a:lnSpc>
            </a:pPr>
            <a:r>
              <a:rPr lang="en-US" sz="2512" b="true">
                <a:solidFill>
                  <a:srgbClr val="188AB2"/>
                </a:solidFill>
                <a:latin typeface="Open Sans 1 Semi-Bold"/>
                <a:ea typeface="Open Sans 1 Semi-Bold"/>
                <a:cs typeface="Open Sans 1 Semi-Bold"/>
                <a:sym typeface="Open Sans 1 Semi-Bold"/>
              </a:rPr>
              <a:t>Your Step To Success</a:t>
            </a:r>
          </a:p>
        </p:txBody>
      </p:sp>
      <p:sp>
        <p:nvSpPr>
          <p:cNvPr name="Freeform 10" id="10"/>
          <p:cNvSpPr/>
          <p:nvPr/>
        </p:nvSpPr>
        <p:spPr>
          <a:xfrm flipH="false" flipV="false" rot="0">
            <a:off x="-1123112" y="-300965"/>
            <a:ext cx="9458929" cy="6302011"/>
          </a:xfrm>
          <a:custGeom>
            <a:avLst/>
            <a:gdLst/>
            <a:ahLst/>
            <a:cxnLst/>
            <a:rect r="r" b="b" t="t" l="l"/>
            <a:pathLst>
              <a:path h="6302011" w="9458929">
                <a:moveTo>
                  <a:pt x="0" y="0"/>
                </a:moveTo>
                <a:lnTo>
                  <a:pt x="9458929" y="0"/>
                </a:lnTo>
                <a:lnTo>
                  <a:pt x="9458929" y="6302011"/>
                </a:lnTo>
                <a:lnTo>
                  <a:pt x="0" y="6302011"/>
                </a:lnTo>
                <a:lnTo>
                  <a:pt x="0" y="0"/>
                </a:lnTo>
                <a:close/>
              </a:path>
            </a:pathLst>
          </a:custGeom>
          <a:blipFill>
            <a:blip r:embed="rId3"/>
            <a:stretch>
              <a:fillRect l="0" t="0" r="0" b="0"/>
            </a:stretch>
          </a:blipFill>
        </p:spPr>
      </p:sp>
      <p:grpSp>
        <p:nvGrpSpPr>
          <p:cNvPr name="Group 11" id="11"/>
          <p:cNvGrpSpPr/>
          <p:nvPr/>
        </p:nvGrpSpPr>
        <p:grpSpPr>
          <a:xfrm rot="0">
            <a:off x="4642156" y="-1150148"/>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D9CFC2"/>
            </a:solidFill>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a:lnSpc>
                  <a:spcPts val="2479"/>
                </a:lnSpc>
              </a:pPr>
            </a:p>
          </p:txBody>
        </p:sp>
      </p:grpSp>
      <p:sp>
        <p:nvSpPr>
          <p:cNvPr name="Freeform 14" id="14"/>
          <p:cNvSpPr/>
          <p:nvPr/>
        </p:nvSpPr>
        <p:spPr>
          <a:xfrm flipH="false" flipV="false" rot="0">
            <a:off x="2617310" y="3847406"/>
            <a:ext cx="1978085" cy="2111065"/>
          </a:xfrm>
          <a:custGeom>
            <a:avLst/>
            <a:gdLst/>
            <a:ahLst/>
            <a:cxnLst/>
            <a:rect r="r" b="b" t="t" l="l"/>
            <a:pathLst>
              <a:path h="2111065" w="1978085">
                <a:moveTo>
                  <a:pt x="0" y="0"/>
                </a:moveTo>
                <a:lnTo>
                  <a:pt x="1978085" y="0"/>
                </a:lnTo>
                <a:lnTo>
                  <a:pt x="1978085" y="2111066"/>
                </a:lnTo>
                <a:lnTo>
                  <a:pt x="0" y="2111066"/>
                </a:lnTo>
                <a:lnTo>
                  <a:pt x="0" y="0"/>
                </a:lnTo>
                <a:close/>
              </a:path>
            </a:pathLst>
          </a:custGeom>
          <a:blipFill>
            <a:blip r:embed="rId4"/>
            <a:stretch>
              <a:fillRect l="0" t="0" r="0" b="0"/>
            </a:stretch>
          </a:blipFill>
        </p:spPr>
      </p:sp>
      <p:sp>
        <p:nvSpPr>
          <p:cNvPr name="TextBox 15" id="15"/>
          <p:cNvSpPr txBox="true"/>
          <p:nvPr/>
        </p:nvSpPr>
        <p:spPr>
          <a:xfrm rot="0">
            <a:off x="4642156" y="3577096"/>
            <a:ext cx="13501821" cy="2557906"/>
          </a:xfrm>
          <a:prstGeom prst="rect">
            <a:avLst/>
          </a:prstGeom>
        </p:spPr>
        <p:txBody>
          <a:bodyPr anchor="t" rtlCol="false" tIns="0" lIns="0" bIns="0" rIns="0">
            <a:spAutoFit/>
          </a:bodyPr>
          <a:lstStyle/>
          <a:p>
            <a:pPr algn="l">
              <a:lnSpc>
                <a:spcPts val="20847"/>
              </a:lnSpc>
            </a:pPr>
            <a:r>
              <a:rPr lang="en-US" sz="14890" b="true">
                <a:solidFill>
                  <a:srgbClr val="188AB2"/>
                </a:solidFill>
                <a:latin typeface="Inter Bold"/>
                <a:ea typeface="Inter Bold"/>
                <a:cs typeface="Inter Bold"/>
                <a:sym typeface="Inter Bold"/>
              </a:rPr>
              <a:t>STEPSMART</a:t>
            </a:r>
          </a:p>
        </p:txBody>
      </p:sp>
      <p:sp>
        <p:nvSpPr>
          <p:cNvPr name="TextBox 16" id="16"/>
          <p:cNvSpPr txBox="true"/>
          <p:nvPr/>
        </p:nvSpPr>
        <p:spPr>
          <a:xfrm rot="0">
            <a:off x="5118489" y="9221701"/>
            <a:ext cx="2012164" cy="919480"/>
          </a:xfrm>
          <a:prstGeom prst="rect">
            <a:avLst/>
          </a:prstGeom>
        </p:spPr>
        <p:txBody>
          <a:bodyPr anchor="t" rtlCol="false" tIns="0" lIns="0" bIns="0" rIns="0">
            <a:spAutoFit/>
          </a:bodyPr>
          <a:lstStyle/>
          <a:p>
            <a:pPr algn="l">
              <a:lnSpc>
                <a:spcPts val="2479"/>
              </a:lnSpc>
            </a:pPr>
            <a:r>
              <a:rPr lang="en-US" sz="1599" b="true">
                <a:solidFill>
                  <a:srgbClr val="000000"/>
                </a:solidFill>
                <a:latin typeface="Open Sans 1 Medium"/>
                <a:ea typeface="Open Sans 1 Medium"/>
                <a:cs typeface="Open Sans 1 Medium"/>
                <a:sym typeface="Open Sans 1 Medium"/>
              </a:rPr>
              <a:t>+91 - 9790464269  +91 - 9766704926</a:t>
            </a:r>
          </a:p>
          <a:p>
            <a:pPr algn="just" marL="0" indent="0" lvl="0">
              <a:lnSpc>
                <a:spcPts val="2479"/>
              </a:lnSpc>
            </a:pPr>
          </a:p>
        </p:txBody>
      </p:sp>
      <p:sp>
        <p:nvSpPr>
          <p:cNvPr name="TextBox 17" id="17"/>
          <p:cNvSpPr txBox="true"/>
          <p:nvPr/>
        </p:nvSpPr>
        <p:spPr>
          <a:xfrm rot="0">
            <a:off x="5118489" y="8947849"/>
            <a:ext cx="2012164" cy="290830"/>
          </a:xfrm>
          <a:prstGeom prst="rect">
            <a:avLst/>
          </a:prstGeom>
        </p:spPr>
        <p:txBody>
          <a:bodyPr anchor="t" rtlCol="false" tIns="0" lIns="0" bIns="0" rIns="0">
            <a:spAutoFit/>
          </a:bodyPr>
          <a:lstStyle/>
          <a:p>
            <a:pPr algn="just" marL="0" indent="0" lvl="0">
              <a:lnSpc>
                <a:spcPts val="2479"/>
              </a:lnSpc>
            </a:pPr>
            <a:r>
              <a:rPr lang="en-US" b="true" sz="1599">
                <a:solidFill>
                  <a:srgbClr val="000000"/>
                </a:solidFill>
                <a:latin typeface="Open Sans 1 Bold"/>
                <a:ea typeface="Open Sans 1 Bold"/>
                <a:cs typeface="Open Sans 1 Bold"/>
                <a:sym typeface="Open Sans 1 Bold"/>
              </a:rPr>
              <a:t>Telephone</a:t>
            </a:r>
          </a:p>
        </p:txBody>
      </p:sp>
      <p:sp>
        <p:nvSpPr>
          <p:cNvPr name="TextBox 18" id="18"/>
          <p:cNvSpPr txBox="true"/>
          <p:nvPr/>
        </p:nvSpPr>
        <p:spPr>
          <a:xfrm rot="0">
            <a:off x="7244646" y="9277058"/>
            <a:ext cx="2993632" cy="290830"/>
          </a:xfrm>
          <a:prstGeom prst="rect">
            <a:avLst/>
          </a:prstGeom>
        </p:spPr>
        <p:txBody>
          <a:bodyPr anchor="t" rtlCol="false" tIns="0" lIns="0" bIns="0" rIns="0">
            <a:spAutoFit/>
          </a:bodyPr>
          <a:lstStyle/>
          <a:p>
            <a:pPr algn="just" marL="0" indent="0" lvl="0">
              <a:lnSpc>
                <a:spcPts val="2479"/>
              </a:lnSpc>
            </a:pPr>
            <a:r>
              <a:rPr lang="en-US" b="true" sz="1599">
                <a:solidFill>
                  <a:srgbClr val="000000"/>
                </a:solidFill>
                <a:latin typeface="Open Sans 1 Medium"/>
                <a:ea typeface="Open Sans 1 Medium"/>
                <a:cs typeface="Open Sans 1 Medium"/>
                <a:sym typeface="Open Sans 1 Medium"/>
              </a:rPr>
              <a:t>administrator@stepsmart.net</a:t>
            </a:r>
          </a:p>
        </p:txBody>
      </p:sp>
      <p:sp>
        <p:nvSpPr>
          <p:cNvPr name="TextBox 19" id="19"/>
          <p:cNvSpPr txBox="true"/>
          <p:nvPr/>
        </p:nvSpPr>
        <p:spPr>
          <a:xfrm rot="0">
            <a:off x="10446558" y="9221701"/>
            <a:ext cx="2868747" cy="290830"/>
          </a:xfrm>
          <a:prstGeom prst="rect">
            <a:avLst/>
          </a:prstGeom>
        </p:spPr>
        <p:txBody>
          <a:bodyPr anchor="t" rtlCol="false" tIns="0" lIns="0" bIns="0" rIns="0">
            <a:spAutoFit/>
          </a:bodyPr>
          <a:lstStyle/>
          <a:p>
            <a:pPr algn="just" marL="0" indent="0" lvl="0">
              <a:lnSpc>
                <a:spcPts val="2479"/>
              </a:lnSpc>
            </a:pPr>
            <a:r>
              <a:rPr lang="en-US" sz="1599">
                <a:solidFill>
                  <a:srgbClr val="000000"/>
                </a:solidFill>
                <a:latin typeface="Open Sans 1"/>
                <a:ea typeface="Open Sans 1"/>
                <a:cs typeface="Open Sans 1"/>
                <a:sym typeface="Open Sans 1"/>
              </a:rPr>
              <a:t>www.stepsmart.net </a:t>
            </a:r>
          </a:p>
        </p:txBody>
      </p:sp>
      <p:sp>
        <p:nvSpPr>
          <p:cNvPr name="TextBox 20" id="20"/>
          <p:cNvSpPr txBox="true"/>
          <p:nvPr/>
        </p:nvSpPr>
        <p:spPr>
          <a:xfrm rot="0">
            <a:off x="7244646" y="8967470"/>
            <a:ext cx="2725663" cy="290830"/>
          </a:xfrm>
          <a:prstGeom prst="rect">
            <a:avLst/>
          </a:prstGeom>
        </p:spPr>
        <p:txBody>
          <a:bodyPr anchor="t" rtlCol="false" tIns="0" lIns="0" bIns="0" rIns="0">
            <a:spAutoFit/>
          </a:bodyPr>
          <a:lstStyle/>
          <a:p>
            <a:pPr algn="just" marL="0" indent="0" lvl="0">
              <a:lnSpc>
                <a:spcPts val="2479"/>
              </a:lnSpc>
            </a:pPr>
            <a:r>
              <a:rPr lang="en-US" b="true" sz="1599">
                <a:solidFill>
                  <a:srgbClr val="000000"/>
                </a:solidFill>
                <a:latin typeface="Open Sans 1 Bold"/>
                <a:ea typeface="Open Sans 1 Bold"/>
                <a:cs typeface="Open Sans 1 Bold"/>
                <a:sym typeface="Open Sans 1 Bold"/>
              </a:rPr>
              <a:t>Email </a:t>
            </a:r>
          </a:p>
        </p:txBody>
      </p:sp>
      <p:sp>
        <p:nvSpPr>
          <p:cNvPr name="TextBox 21" id="21"/>
          <p:cNvSpPr txBox="true"/>
          <p:nvPr/>
        </p:nvSpPr>
        <p:spPr>
          <a:xfrm rot="0">
            <a:off x="10446558" y="8947849"/>
            <a:ext cx="2868747" cy="290830"/>
          </a:xfrm>
          <a:prstGeom prst="rect">
            <a:avLst/>
          </a:prstGeom>
        </p:spPr>
        <p:txBody>
          <a:bodyPr anchor="t" rtlCol="false" tIns="0" lIns="0" bIns="0" rIns="0">
            <a:spAutoFit/>
          </a:bodyPr>
          <a:lstStyle/>
          <a:p>
            <a:pPr algn="just" marL="0" indent="0" lvl="0">
              <a:lnSpc>
                <a:spcPts val="2479"/>
              </a:lnSpc>
            </a:pPr>
            <a:r>
              <a:rPr lang="en-US" b="true" sz="1599">
                <a:solidFill>
                  <a:srgbClr val="000000"/>
                </a:solidFill>
                <a:latin typeface="Open Sans 1 Bold"/>
                <a:ea typeface="Open Sans 1 Bold"/>
                <a:cs typeface="Open Sans 1 Bold"/>
                <a:sym typeface="Open Sans 1 Bold"/>
              </a:rPr>
              <a:t>Website</a:t>
            </a:r>
          </a:p>
        </p:txBody>
      </p:sp>
      <p:sp>
        <p:nvSpPr>
          <p:cNvPr name="TextBox 22" id="22"/>
          <p:cNvSpPr txBox="true"/>
          <p:nvPr/>
        </p:nvSpPr>
        <p:spPr>
          <a:xfrm rot="0">
            <a:off x="15172074" y="8768397"/>
            <a:ext cx="2868747" cy="368301"/>
          </a:xfrm>
          <a:prstGeom prst="rect">
            <a:avLst/>
          </a:prstGeom>
        </p:spPr>
        <p:txBody>
          <a:bodyPr anchor="t" rtlCol="false" tIns="0" lIns="0" bIns="0" rIns="0">
            <a:spAutoFit/>
          </a:bodyPr>
          <a:lstStyle/>
          <a:p>
            <a:pPr algn="r" marL="0" indent="0" lvl="0">
              <a:lnSpc>
                <a:spcPts val="3099"/>
              </a:lnSpc>
            </a:pPr>
            <a:r>
              <a:rPr lang="en-US" b="true" sz="1999">
                <a:solidFill>
                  <a:srgbClr val="000000"/>
                </a:solidFill>
                <a:latin typeface="Open Sans 1 Bold"/>
                <a:ea typeface="Open Sans 1 Bold"/>
                <a:cs typeface="Open Sans 1 Bold"/>
                <a:sym typeface="Open Sans 1 Bold"/>
              </a:rPr>
              <a:t>Aug 2025</a:t>
            </a:r>
          </a:p>
        </p:txBody>
      </p:sp>
      <p:sp>
        <p:nvSpPr>
          <p:cNvPr name="TextBox 23" id="23"/>
          <p:cNvSpPr txBox="true"/>
          <p:nvPr/>
        </p:nvSpPr>
        <p:spPr>
          <a:xfrm rot="0">
            <a:off x="13519151" y="5720058"/>
            <a:ext cx="4521671" cy="464820"/>
          </a:xfrm>
          <a:prstGeom prst="rect">
            <a:avLst/>
          </a:prstGeom>
        </p:spPr>
        <p:txBody>
          <a:bodyPr anchor="t" rtlCol="false" tIns="0" lIns="0" bIns="0" rIns="0">
            <a:spAutoFit/>
          </a:bodyPr>
          <a:lstStyle/>
          <a:p>
            <a:pPr algn="l">
              <a:lnSpc>
                <a:spcPts val="3779"/>
              </a:lnSpc>
            </a:pPr>
            <a:r>
              <a:rPr lang="en-US" sz="2699" b="true">
                <a:solidFill>
                  <a:srgbClr val="188AB2"/>
                </a:solidFill>
                <a:latin typeface="Open Sans 1 Semi-Bold"/>
                <a:ea typeface="Open Sans 1 Semi-Bold"/>
                <a:cs typeface="Open Sans 1 Semi-Bold"/>
                <a:sym typeface="Open Sans 1 Semi-Bold"/>
              </a:rPr>
              <a:t>Your Step To Success</a:t>
            </a:r>
          </a:p>
        </p:txBody>
      </p:sp>
      <p:sp>
        <p:nvSpPr>
          <p:cNvPr name="Freeform 24" id="24"/>
          <p:cNvSpPr/>
          <p:nvPr/>
        </p:nvSpPr>
        <p:spPr>
          <a:xfrm flipH="false" flipV="false" rot="0">
            <a:off x="283132" y="8904474"/>
            <a:ext cx="1015363" cy="1083623"/>
          </a:xfrm>
          <a:custGeom>
            <a:avLst/>
            <a:gdLst/>
            <a:ahLst/>
            <a:cxnLst/>
            <a:rect r="r" b="b" t="t" l="l"/>
            <a:pathLst>
              <a:path h="1083623" w="1015363">
                <a:moveTo>
                  <a:pt x="0" y="0"/>
                </a:moveTo>
                <a:lnTo>
                  <a:pt x="1015363" y="0"/>
                </a:lnTo>
                <a:lnTo>
                  <a:pt x="1015363" y="1083623"/>
                </a:lnTo>
                <a:lnTo>
                  <a:pt x="0" y="1083623"/>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1169233"/>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BDB3A7"/>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479"/>
                </a:lnSpc>
              </a:pPr>
            </a:p>
          </p:txBody>
        </p:sp>
      </p:grpSp>
      <p:sp>
        <p:nvSpPr>
          <p:cNvPr name="TextBox 5" id="5"/>
          <p:cNvSpPr txBox="true"/>
          <p:nvPr/>
        </p:nvSpPr>
        <p:spPr>
          <a:xfrm rot="0">
            <a:off x="1028700" y="2943225"/>
            <a:ext cx="16230600" cy="2200275"/>
          </a:xfrm>
          <a:prstGeom prst="rect">
            <a:avLst/>
          </a:prstGeom>
        </p:spPr>
        <p:txBody>
          <a:bodyPr anchor="t" rtlCol="false" tIns="0" lIns="0" bIns="0" rIns="0">
            <a:spAutoFit/>
          </a:bodyPr>
          <a:lstStyle/>
          <a:p>
            <a:pPr algn="ctr" marL="0" indent="0" lvl="0">
              <a:lnSpc>
                <a:spcPts val="8639"/>
              </a:lnSpc>
            </a:pPr>
            <a:r>
              <a:rPr lang="en-US" b="true" sz="7199">
                <a:solidFill>
                  <a:srgbClr val="000000"/>
                </a:solidFill>
                <a:latin typeface="Inter Bold"/>
                <a:ea typeface="Inter Bold"/>
                <a:cs typeface="Inter Bold"/>
                <a:sym typeface="Inter Bold"/>
              </a:rPr>
              <a:t>THE FUTURE YOU WERE PROMISED NO LONGER EXISTS</a:t>
            </a:r>
          </a:p>
        </p:txBody>
      </p:sp>
      <p:sp>
        <p:nvSpPr>
          <p:cNvPr name="AutoShape 6" id="6"/>
          <p:cNvSpPr/>
          <p:nvPr/>
        </p:nvSpPr>
        <p:spPr>
          <a:xfrm rot="0">
            <a:off x="0" y="6184435"/>
            <a:ext cx="18288000" cy="4102565"/>
          </a:xfrm>
          <a:prstGeom prst="rect">
            <a:avLst/>
          </a:prstGeom>
          <a:solidFill>
            <a:srgbClr val="D9CFC2"/>
          </a:solidFill>
        </p:spPr>
      </p:sp>
      <p:sp>
        <p:nvSpPr>
          <p:cNvPr name="TextBox 7" id="7"/>
          <p:cNvSpPr txBox="true"/>
          <p:nvPr/>
        </p:nvSpPr>
        <p:spPr>
          <a:xfrm rot="0">
            <a:off x="1028700" y="7321317"/>
            <a:ext cx="4096961" cy="1828800"/>
          </a:xfrm>
          <a:prstGeom prst="rect">
            <a:avLst/>
          </a:prstGeom>
        </p:spPr>
        <p:txBody>
          <a:bodyPr anchor="t" rtlCol="false" tIns="0" lIns="0" bIns="0" rIns="0">
            <a:spAutoFit/>
          </a:bodyPr>
          <a:lstStyle/>
          <a:p>
            <a:pPr algn="ctr" marL="0" indent="0" lvl="0">
              <a:lnSpc>
                <a:spcPts val="3624"/>
              </a:lnSpc>
              <a:spcBef>
                <a:spcPct val="0"/>
              </a:spcBef>
            </a:pPr>
            <a:r>
              <a:rPr lang="en-US" sz="3020">
                <a:solidFill>
                  <a:srgbClr val="000000"/>
                </a:solidFill>
                <a:latin typeface="Open Sans 2"/>
                <a:ea typeface="Open Sans 2"/>
                <a:cs typeface="Open Sans 2"/>
                <a:sym typeface="Open Sans 2"/>
              </a:rPr>
              <a:t>Ove</a:t>
            </a:r>
            <a:r>
              <a:rPr lang="en-US" sz="3020" u="none">
                <a:solidFill>
                  <a:srgbClr val="000000"/>
                </a:solidFill>
                <a:latin typeface="Open Sans 2"/>
                <a:ea typeface="Open Sans 2"/>
                <a:cs typeface="Open Sans 2"/>
                <a:sym typeface="Open Sans 2"/>
              </a:rPr>
              <a:t>r 100,000+ tech jobs have been eliminated in 2025 alone</a:t>
            </a:r>
          </a:p>
        </p:txBody>
      </p:sp>
      <p:sp>
        <p:nvSpPr>
          <p:cNvPr name="TextBox 8" id="8"/>
          <p:cNvSpPr txBox="true"/>
          <p:nvPr/>
        </p:nvSpPr>
        <p:spPr>
          <a:xfrm rot="0">
            <a:off x="6809919" y="7321317"/>
            <a:ext cx="4096961" cy="1371600"/>
          </a:xfrm>
          <a:prstGeom prst="rect">
            <a:avLst/>
          </a:prstGeom>
        </p:spPr>
        <p:txBody>
          <a:bodyPr anchor="t" rtlCol="false" tIns="0" lIns="0" bIns="0" rIns="0">
            <a:spAutoFit/>
          </a:bodyPr>
          <a:lstStyle/>
          <a:p>
            <a:pPr algn="ctr" marL="0" indent="0" lvl="0">
              <a:lnSpc>
                <a:spcPts val="3624"/>
              </a:lnSpc>
              <a:spcBef>
                <a:spcPct val="0"/>
              </a:spcBef>
            </a:pPr>
            <a:r>
              <a:rPr lang="en-US" sz="3020">
                <a:solidFill>
                  <a:srgbClr val="000000"/>
                </a:solidFill>
                <a:latin typeface="Open Sans 2"/>
                <a:ea typeface="Open Sans 2"/>
                <a:cs typeface="Open Sans 2"/>
                <a:sym typeface="Open Sans 2"/>
              </a:rPr>
              <a:t>50% of entry-level</a:t>
            </a:r>
            <a:r>
              <a:rPr lang="en-US" sz="3020" u="none">
                <a:solidFill>
                  <a:srgbClr val="000000"/>
                </a:solidFill>
                <a:latin typeface="Open Sans 2"/>
                <a:ea typeface="Open Sans 2"/>
                <a:cs typeface="Open Sans 2"/>
                <a:sym typeface="Open Sans 2"/>
              </a:rPr>
              <a:t> tech jobs have vanished since 2020</a:t>
            </a:r>
          </a:p>
        </p:txBody>
      </p:sp>
      <p:sp>
        <p:nvSpPr>
          <p:cNvPr name="TextBox 9" id="9"/>
          <p:cNvSpPr txBox="true"/>
          <p:nvPr/>
        </p:nvSpPr>
        <p:spPr>
          <a:xfrm rot="0">
            <a:off x="12822036" y="7321317"/>
            <a:ext cx="3853319" cy="1828800"/>
          </a:xfrm>
          <a:prstGeom prst="rect">
            <a:avLst/>
          </a:prstGeom>
        </p:spPr>
        <p:txBody>
          <a:bodyPr anchor="t" rtlCol="false" tIns="0" lIns="0" bIns="0" rIns="0">
            <a:spAutoFit/>
          </a:bodyPr>
          <a:lstStyle/>
          <a:p>
            <a:pPr algn="ctr" marL="0" indent="0" lvl="0">
              <a:lnSpc>
                <a:spcPts val="3624"/>
              </a:lnSpc>
              <a:spcBef>
                <a:spcPct val="0"/>
              </a:spcBef>
            </a:pPr>
            <a:r>
              <a:rPr lang="en-US" sz="3020">
                <a:solidFill>
                  <a:srgbClr val="000000"/>
                </a:solidFill>
                <a:latin typeface="Open Sans 2"/>
                <a:ea typeface="Open Sans 2"/>
                <a:cs typeface="Open Sans 2"/>
                <a:sym typeface="Open Sans 2"/>
              </a:rPr>
              <a:t>83%</a:t>
            </a:r>
            <a:r>
              <a:rPr lang="en-US" sz="3020" u="none">
                <a:solidFill>
                  <a:srgbClr val="000000"/>
                </a:solidFill>
                <a:latin typeface="Open Sans 2"/>
                <a:ea typeface="Open Sans 2"/>
                <a:cs typeface="Open Sans 2"/>
                <a:sym typeface="Open Sans 2"/>
              </a:rPr>
              <a:t> of India's unemployed workforce is aged 15-29</a:t>
            </a:r>
          </a:p>
        </p:txBody>
      </p:sp>
      <p:grpSp>
        <p:nvGrpSpPr>
          <p:cNvPr name="Group 10" id="10"/>
          <p:cNvGrpSpPr/>
          <p:nvPr/>
        </p:nvGrpSpPr>
        <p:grpSpPr>
          <a:xfrm rot="0">
            <a:off x="15344388" y="-1171575"/>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BDB3A7"/>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47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Freeform 5" id="5"/>
          <p:cNvSpPr/>
          <p:nvPr/>
        </p:nvSpPr>
        <p:spPr>
          <a:xfrm flipH="false" flipV="false" rot="0">
            <a:off x="387441" y="3723594"/>
            <a:ext cx="5455009" cy="1832112"/>
          </a:xfrm>
          <a:custGeom>
            <a:avLst/>
            <a:gdLst/>
            <a:ahLst/>
            <a:cxnLst/>
            <a:rect r="r" b="b" t="t" l="l"/>
            <a:pathLst>
              <a:path h="1832112" w="5455009">
                <a:moveTo>
                  <a:pt x="0" y="0"/>
                </a:moveTo>
                <a:lnTo>
                  <a:pt x="5455009" y="0"/>
                </a:lnTo>
                <a:lnTo>
                  <a:pt x="5455009" y="1832112"/>
                </a:lnTo>
                <a:lnTo>
                  <a:pt x="0" y="1832112"/>
                </a:lnTo>
                <a:lnTo>
                  <a:pt x="0" y="0"/>
                </a:lnTo>
                <a:close/>
              </a:path>
            </a:pathLst>
          </a:custGeom>
          <a:blipFill>
            <a:blip r:embed="rId2"/>
            <a:stretch>
              <a:fillRect l="0" t="0" r="0" b="0"/>
            </a:stretch>
          </a:blipFill>
        </p:spPr>
      </p:sp>
      <p:sp>
        <p:nvSpPr>
          <p:cNvPr name="Freeform 6" id="6"/>
          <p:cNvSpPr/>
          <p:nvPr/>
        </p:nvSpPr>
        <p:spPr>
          <a:xfrm flipH="false" flipV="false" rot="0">
            <a:off x="9850160" y="3785375"/>
            <a:ext cx="6384946" cy="1636142"/>
          </a:xfrm>
          <a:custGeom>
            <a:avLst/>
            <a:gdLst/>
            <a:ahLst/>
            <a:cxnLst/>
            <a:rect r="r" b="b" t="t" l="l"/>
            <a:pathLst>
              <a:path h="1636142" w="6384946">
                <a:moveTo>
                  <a:pt x="0" y="0"/>
                </a:moveTo>
                <a:lnTo>
                  <a:pt x="6384946" y="0"/>
                </a:lnTo>
                <a:lnTo>
                  <a:pt x="6384946" y="1636143"/>
                </a:lnTo>
                <a:lnTo>
                  <a:pt x="0" y="1636143"/>
                </a:lnTo>
                <a:lnTo>
                  <a:pt x="0" y="0"/>
                </a:lnTo>
                <a:close/>
              </a:path>
            </a:pathLst>
          </a:custGeom>
          <a:blipFill>
            <a:blip r:embed="rId3"/>
            <a:stretch>
              <a:fillRect l="0" t="0" r="0" b="0"/>
            </a:stretch>
          </a:blipFill>
        </p:spPr>
      </p:sp>
      <p:sp>
        <p:nvSpPr>
          <p:cNvPr name="Freeform 7" id="7"/>
          <p:cNvSpPr/>
          <p:nvPr/>
        </p:nvSpPr>
        <p:spPr>
          <a:xfrm flipH="false" flipV="false" rot="0">
            <a:off x="2665652" y="1894491"/>
            <a:ext cx="12956696" cy="1457628"/>
          </a:xfrm>
          <a:custGeom>
            <a:avLst/>
            <a:gdLst/>
            <a:ahLst/>
            <a:cxnLst/>
            <a:rect r="r" b="b" t="t" l="l"/>
            <a:pathLst>
              <a:path h="1457628" w="12956696">
                <a:moveTo>
                  <a:pt x="0" y="0"/>
                </a:moveTo>
                <a:lnTo>
                  <a:pt x="12956696" y="0"/>
                </a:lnTo>
                <a:lnTo>
                  <a:pt x="12956696" y="1457628"/>
                </a:lnTo>
                <a:lnTo>
                  <a:pt x="0" y="1457628"/>
                </a:lnTo>
                <a:lnTo>
                  <a:pt x="0" y="0"/>
                </a:lnTo>
                <a:close/>
              </a:path>
            </a:pathLst>
          </a:custGeom>
          <a:blipFill>
            <a:blip r:embed="rId4"/>
            <a:stretch>
              <a:fillRect l="0" t="0" r="0" b="0"/>
            </a:stretch>
          </a:blipFill>
        </p:spPr>
      </p:sp>
      <p:sp>
        <p:nvSpPr>
          <p:cNvPr name="Freeform 8" id="8"/>
          <p:cNvSpPr/>
          <p:nvPr/>
        </p:nvSpPr>
        <p:spPr>
          <a:xfrm flipH="false" flipV="false" rot="0">
            <a:off x="3114945" y="7654475"/>
            <a:ext cx="11771189" cy="1603825"/>
          </a:xfrm>
          <a:custGeom>
            <a:avLst/>
            <a:gdLst/>
            <a:ahLst/>
            <a:cxnLst/>
            <a:rect r="r" b="b" t="t" l="l"/>
            <a:pathLst>
              <a:path h="1603825" w="11771189">
                <a:moveTo>
                  <a:pt x="0" y="0"/>
                </a:moveTo>
                <a:lnTo>
                  <a:pt x="11771190" y="0"/>
                </a:lnTo>
                <a:lnTo>
                  <a:pt x="11771190" y="1603825"/>
                </a:lnTo>
                <a:lnTo>
                  <a:pt x="0" y="1603825"/>
                </a:lnTo>
                <a:lnTo>
                  <a:pt x="0" y="0"/>
                </a:lnTo>
                <a:close/>
              </a:path>
            </a:pathLst>
          </a:custGeom>
          <a:blipFill>
            <a:blip r:embed="rId5"/>
            <a:stretch>
              <a:fillRect l="0" t="0" r="0" b="0"/>
            </a:stretch>
          </a:blipFill>
        </p:spPr>
      </p:sp>
      <p:sp>
        <p:nvSpPr>
          <p:cNvPr name="Freeform 9" id="9"/>
          <p:cNvSpPr/>
          <p:nvPr/>
        </p:nvSpPr>
        <p:spPr>
          <a:xfrm flipH="false" flipV="false" rot="0">
            <a:off x="4939905" y="5792154"/>
            <a:ext cx="7835532" cy="1625873"/>
          </a:xfrm>
          <a:custGeom>
            <a:avLst/>
            <a:gdLst/>
            <a:ahLst/>
            <a:cxnLst/>
            <a:rect r="r" b="b" t="t" l="l"/>
            <a:pathLst>
              <a:path h="1625873" w="7835532">
                <a:moveTo>
                  <a:pt x="0" y="0"/>
                </a:moveTo>
                <a:lnTo>
                  <a:pt x="7835533" y="0"/>
                </a:lnTo>
                <a:lnTo>
                  <a:pt x="7835533" y="1625873"/>
                </a:lnTo>
                <a:lnTo>
                  <a:pt x="0" y="1625873"/>
                </a:lnTo>
                <a:lnTo>
                  <a:pt x="0" y="0"/>
                </a:lnTo>
                <a:close/>
              </a:path>
            </a:pathLst>
          </a:custGeom>
          <a:blipFill>
            <a:blip r:embed="rId6"/>
            <a:stretch>
              <a:fillRect l="0" t="0" r="0" b="0"/>
            </a:stretch>
          </a:blipFill>
        </p:spPr>
      </p:sp>
      <p:sp>
        <p:nvSpPr>
          <p:cNvPr name="TextBox 10" id="10"/>
          <p:cNvSpPr txBox="true"/>
          <p:nvPr/>
        </p:nvSpPr>
        <p:spPr>
          <a:xfrm rot="0">
            <a:off x="1028700" y="471487"/>
            <a:ext cx="16230600" cy="1104900"/>
          </a:xfrm>
          <a:prstGeom prst="rect">
            <a:avLst/>
          </a:prstGeom>
        </p:spPr>
        <p:txBody>
          <a:bodyPr anchor="t" rtlCol="false" tIns="0" lIns="0" bIns="0" rIns="0">
            <a:spAutoFit/>
          </a:bodyPr>
          <a:lstStyle/>
          <a:p>
            <a:pPr algn="ctr" marL="0" indent="0" lvl="0">
              <a:lnSpc>
                <a:spcPts val="8639"/>
              </a:lnSpc>
            </a:pPr>
            <a:r>
              <a:rPr lang="en-US" b="true" sz="7199">
                <a:solidFill>
                  <a:srgbClr val="000000"/>
                </a:solidFill>
                <a:latin typeface="Inter Bold"/>
                <a:ea typeface="Inter Bold"/>
                <a:cs typeface="Inter Bold"/>
                <a:sym typeface="Inter Bold"/>
              </a:rPr>
              <a:t>SOME RECENT NEWS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0" y="-1169233"/>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88AB2"/>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2479"/>
                </a:lnSpc>
              </a:pPr>
            </a:p>
          </p:txBody>
        </p:sp>
      </p:grpSp>
      <p:sp>
        <p:nvSpPr>
          <p:cNvPr name="TextBox 8" id="8"/>
          <p:cNvSpPr txBox="true"/>
          <p:nvPr/>
        </p:nvSpPr>
        <p:spPr>
          <a:xfrm rot="0">
            <a:off x="475223" y="2806317"/>
            <a:ext cx="17615730" cy="3383878"/>
          </a:xfrm>
          <a:prstGeom prst="rect">
            <a:avLst/>
          </a:prstGeom>
        </p:spPr>
        <p:txBody>
          <a:bodyPr anchor="t" rtlCol="false" tIns="0" lIns="0" bIns="0" rIns="0">
            <a:spAutoFit/>
          </a:bodyPr>
          <a:lstStyle/>
          <a:p>
            <a:pPr algn="ctr">
              <a:lnSpc>
                <a:spcPts val="13512"/>
              </a:lnSpc>
            </a:pPr>
            <a:r>
              <a:rPr lang="en-US" b="true" sz="9651">
                <a:solidFill>
                  <a:srgbClr val="000000"/>
                </a:solidFill>
                <a:latin typeface="Inter Bold"/>
                <a:ea typeface="Inter Bold"/>
                <a:cs typeface="Inter Bold"/>
                <a:sym typeface="Inter Bold"/>
              </a:rPr>
              <a:t> IS THERE DECLINE IN JOBS IN THE MARKET ?</a:t>
            </a:r>
          </a:p>
        </p:txBody>
      </p:sp>
      <p:grpSp>
        <p:nvGrpSpPr>
          <p:cNvPr name="Group 9" id="9"/>
          <p:cNvGrpSpPr/>
          <p:nvPr/>
        </p:nvGrpSpPr>
        <p:grpSpPr>
          <a:xfrm rot="0">
            <a:off x="15201900" y="-1169233"/>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88AB2"/>
            </a:soli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247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Freeform 5" id="5"/>
          <p:cNvSpPr/>
          <p:nvPr/>
        </p:nvSpPr>
        <p:spPr>
          <a:xfrm flipH="false" flipV="false" rot="0">
            <a:off x="1178301" y="1806215"/>
            <a:ext cx="16080999" cy="7533549"/>
          </a:xfrm>
          <a:custGeom>
            <a:avLst/>
            <a:gdLst/>
            <a:ahLst/>
            <a:cxnLst/>
            <a:rect r="r" b="b" t="t" l="l"/>
            <a:pathLst>
              <a:path h="7533549" w="16080999">
                <a:moveTo>
                  <a:pt x="0" y="0"/>
                </a:moveTo>
                <a:lnTo>
                  <a:pt x="16080999" y="0"/>
                </a:lnTo>
                <a:lnTo>
                  <a:pt x="16080999" y="7533549"/>
                </a:lnTo>
                <a:lnTo>
                  <a:pt x="0" y="7533549"/>
                </a:lnTo>
                <a:lnTo>
                  <a:pt x="0" y="0"/>
                </a:lnTo>
                <a:close/>
              </a:path>
            </a:pathLst>
          </a:custGeom>
          <a:blipFill>
            <a:blip r:embed="rId2"/>
            <a:stretch>
              <a:fillRect l="0" t="-3644" r="0" b="-38109"/>
            </a:stretch>
          </a:blipFill>
        </p:spPr>
      </p:sp>
      <p:sp>
        <p:nvSpPr>
          <p:cNvPr name="TextBox 6" id="6"/>
          <p:cNvSpPr txBox="true"/>
          <p:nvPr/>
        </p:nvSpPr>
        <p:spPr>
          <a:xfrm rot="0">
            <a:off x="1028700" y="471487"/>
            <a:ext cx="16230600" cy="1104900"/>
          </a:xfrm>
          <a:prstGeom prst="rect">
            <a:avLst/>
          </a:prstGeom>
        </p:spPr>
        <p:txBody>
          <a:bodyPr anchor="t" rtlCol="false" tIns="0" lIns="0" bIns="0" rIns="0">
            <a:spAutoFit/>
          </a:bodyPr>
          <a:lstStyle/>
          <a:p>
            <a:pPr algn="ctr" marL="0" indent="0" lvl="0">
              <a:lnSpc>
                <a:spcPts val="8639"/>
              </a:lnSpc>
            </a:pPr>
            <a:r>
              <a:rPr lang="en-US" b="true" sz="7199">
                <a:solidFill>
                  <a:srgbClr val="000000"/>
                </a:solidFill>
                <a:latin typeface="Inter Bold"/>
                <a:ea typeface="Inter Bold"/>
                <a:cs typeface="Inter Bold"/>
                <a:sym typeface="Inter Bold"/>
              </a:rPr>
              <a:t>AUTOMATION RISK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65650" y="131485"/>
            <a:ext cx="8956700"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Inter Bold"/>
                <a:ea typeface="Inter Bold"/>
                <a:cs typeface="Inter Bold"/>
                <a:sym typeface="Inter Bold"/>
              </a:rPr>
              <a:t>+ IMPACT OF AI</a:t>
            </a:r>
          </a:p>
        </p:txBody>
      </p:sp>
      <p:pic>
        <p:nvPicPr>
          <p:cNvPr name="Picture 3" id="3"/>
          <p:cNvPicPr>
            <a:picLocks noChangeAspect="true"/>
          </p:cNvPicPr>
          <p:nvPr/>
        </p:nvPicPr>
        <p:blipFill>
          <a:blip r:embed="rId3"/>
          <a:stretch>
            <a:fillRect/>
          </a:stretch>
        </p:blipFill>
        <p:spPr>
          <a:xfrm rot="0">
            <a:off x="-320409" y="847365"/>
            <a:ext cx="8204333" cy="10322274"/>
          </a:xfrm>
          <a:prstGeom prst="rect">
            <a:avLst/>
          </a:prstGeom>
        </p:spPr>
      </p:pic>
      <p:sp>
        <p:nvSpPr>
          <p:cNvPr name="TextBox 4" id="4"/>
          <p:cNvSpPr txBox="true"/>
          <p:nvPr/>
        </p:nvSpPr>
        <p:spPr>
          <a:xfrm rot="0">
            <a:off x="7498655" y="2289845"/>
            <a:ext cx="9932414" cy="2454384"/>
          </a:xfrm>
          <a:prstGeom prst="rect">
            <a:avLst/>
          </a:prstGeom>
        </p:spPr>
        <p:txBody>
          <a:bodyPr anchor="t" rtlCol="false" tIns="0" lIns="0" bIns="0" rIns="0">
            <a:spAutoFit/>
          </a:bodyPr>
          <a:lstStyle/>
          <a:p>
            <a:pPr algn="l" marL="537895" indent="-268948" lvl="1">
              <a:lnSpc>
                <a:spcPts val="3238"/>
              </a:lnSpc>
              <a:buAutoNum type="arabicPeriod" startAt="1"/>
            </a:pPr>
            <a:r>
              <a:rPr lang="en-US" sz="2491">
                <a:solidFill>
                  <a:srgbClr val="000000"/>
                </a:solidFill>
                <a:latin typeface="Open Sans 2"/>
                <a:ea typeface="Open Sans 2"/>
                <a:cs typeface="Open Sans 2"/>
                <a:sym typeface="Open Sans 2"/>
              </a:rPr>
              <a:t>AI &amp; Emerging Tech: 30–35% projected growth in AI/ML, data analytics, and cloud roles.</a:t>
            </a:r>
          </a:p>
          <a:p>
            <a:pPr algn="l" marL="537895" indent="-268948" lvl="1">
              <a:lnSpc>
                <a:spcPts val="3238"/>
              </a:lnSpc>
              <a:buAutoNum type="arabicPeriod" startAt="1"/>
            </a:pPr>
            <a:r>
              <a:rPr lang="en-US" sz="2491">
                <a:solidFill>
                  <a:srgbClr val="000000"/>
                </a:solidFill>
                <a:latin typeface="Open Sans 2"/>
                <a:ea typeface="Open Sans 2"/>
                <a:cs typeface="Open Sans 2"/>
                <a:sym typeface="Open Sans 2"/>
              </a:rPr>
              <a:t>Critical Tools: Productivity &amp; collaboration (83%), project management (73%), data visualization (64%).</a:t>
            </a:r>
          </a:p>
          <a:p>
            <a:pPr algn="l" marL="537895" indent="-268948" lvl="1">
              <a:lnSpc>
                <a:spcPts val="3238"/>
              </a:lnSpc>
              <a:buAutoNum type="arabicPeriod" startAt="1"/>
            </a:pPr>
            <a:r>
              <a:rPr lang="en-US" sz="2491">
                <a:solidFill>
                  <a:srgbClr val="000000"/>
                </a:solidFill>
                <a:latin typeface="Open Sans 2"/>
                <a:ea typeface="Open Sans 2"/>
                <a:cs typeface="Open Sans 2"/>
                <a:sym typeface="Open Sans 2"/>
              </a:rPr>
              <a:t>Top Freshers Roles in H1 2025: AI Engineer, RPA Developer, Prompt Engineer, Network Security Analyst, Product Analyst.</a:t>
            </a:r>
          </a:p>
        </p:txBody>
      </p:sp>
      <p:sp>
        <p:nvSpPr>
          <p:cNvPr name="TextBox 5" id="5"/>
          <p:cNvSpPr txBox="true"/>
          <p:nvPr/>
        </p:nvSpPr>
        <p:spPr>
          <a:xfrm rot="0">
            <a:off x="7498655" y="5716476"/>
            <a:ext cx="9760645" cy="1635234"/>
          </a:xfrm>
          <a:prstGeom prst="rect">
            <a:avLst/>
          </a:prstGeom>
        </p:spPr>
        <p:txBody>
          <a:bodyPr anchor="t" rtlCol="false" tIns="0" lIns="0" bIns="0" rIns="0">
            <a:spAutoFit/>
          </a:bodyPr>
          <a:lstStyle/>
          <a:p>
            <a:pPr algn="l" marL="537895" indent="-268948" lvl="1">
              <a:lnSpc>
                <a:spcPts val="3238"/>
              </a:lnSpc>
              <a:buAutoNum type="arabicPeriod" startAt="1"/>
            </a:pPr>
            <a:r>
              <a:rPr lang="en-US" sz="2491">
                <a:solidFill>
                  <a:srgbClr val="000000"/>
                </a:solidFill>
                <a:latin typeface="Open Sans 2"/>
                <a:ea typeface="Open Sans 2"/>
                <a:cs typeface="Open Sans 2"/>
                <a:sym typeface="Open Sans 2"/>
              </a:rPr>
              <a:t>Skill-First Focus: Prioritize AI, data analytics, cloud and RPA certifications; blend with strong soft skills.</a:t>
            </a:r>
          </a:p>
          <a:p>
            <a:pPr algn="l" marL="537895" indent="-268948" lvl="1">
              <a:lnSpc>
                <a:spcPts val="3238"/>
              </a:lnSpc>
              <a:buAutoNum type="arabicPeriod" startAt="1"/>
            </a:pPr>
            <a:r>
              <a:rPr lang="en-US" sz="2491">
                <a:solidFill>
                  <a:srgbClr val="000000"/>
                </a:solidFill>
                <a:latin typeface="Open Sans 2"/>
                <a:ea typeface="Open Sans 2"/>
                <a:cs typeface="Open Sans 2"/>
                <a:sym typeface="Open Sans 2"/>
              </a:rPr>
              <a:t>Career Positioning: Demonstrate hands-on project experience and tools proficiency to offset employability gaps.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728381" y="334331"/>
            <a:ext cx="13327782"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Inter Bold"/>
                <a:ea typeface="Inter Bold"/>
                <a:cs typeface="Inter Bold"/>
                <a:sym typeface="Inter Bold"/>
              </a:rPr>
              <a:t>WHY PREP IS CRITICAL</a:t>
            </a:r>
          </a:p>
        </p:txBody>
      </p:sp>
      <p:sp>
        <p:nvSpPr>
          <p:cNvPr name="TextBox 3" id="3"/>
          <p:cNvSpPr txBox="true"/>
          <p:nvPr/>
        </p:nvSpPr>
        <p:spPr>
          <a:xfrm rot="0">
            <a:off x="1353475" y="2432968"/>
            <a:ext cx="16077594" cy="7239635"/>
          </a:xfrm>
          <a:prstGeom prst="rect">
            <a:avLst/>
          </a:prstGeom>
        </p:spPr>
        <p:txBody>
          <a:bodyPr anchor="t" rtlCol="false" tIns="0" lIns="0" bIns="0" rIns="0">
            <a:spAutoFit/>
          </a:bodyPr>
          <a:lstStyle/>
          <a:p>
            <a:pPr algn="just" marL="755651" indent="-377825" lvl="1">
              <a:lnSpc>
                <a:spcPts val="4550"/>
              </a:lnSpc>
              <a:buAutoNum type="arabicPeriod" startAt="1"/>
            </a:pPr>
            <a:r>
              <a:rPr lang="en-US" sz="3500">
                <a:solidFill>
                  <a:srgbClr val="000000"/>
                </a:solidFill>
                <a:latin typeface="Open Sans 2"/>
                <a:ea typeface="Open Sans 2"/>
                <a:cs typeface="Open Sans 2"/>
                <a:sym typeface="Open Sans 2"/>
              </a:rPr>
              <a:t>Structural changes in system (entire job categories finished - akin to industrial revolution)</a:t>
            </a:r>
          </a:p>
          <a:p>
            <a:pPr algn="just" marL="755651" indent="-377825" lvl="1">
              <a:lnSpc>
                <a:spcPts val="4550"/>
              </a:lnSpc>
              <a:buAutoNum type="arabicPeriod" startAt="1"/>
            </a:pPr>
            <a:r>
              <a:rPr lang="en-US" sz="3500">
                <a:solidFill>
                  <a:srgbClr val="000000"/>
                </a:solidFill>
                <a:latin typeface="Open Sans 2"/>
                <a:ea typeface="Open Sans 2"/>
                <a:cs typeface="Open Sans 2"/>
                <a:sym typeface="Open Sans 2"/>
              </a:rPr>
              <a:t>Speed of change is unprecedented (skills of today is not very useful tomorrow - new AI tools everyday)</a:t>
            </a:r>
          </a:p>
          <a:p>
            <a:pPr algn="just" marL="755651" indent="-377825" lvl="1">
              <a:lnSpc>
                <a:spcPts val="4550"/>
              </a:lnSpc>
              <a:buAutoNum type="arabicPeriod" startAt="1"/>
            </a:pPr>
            <a:r>
              <a:rPr lang="en-US" sz="3500">
                <a:solidFill>
                  <a:srgbClr val="000000"/>
                </a:solidFill>
                <a:latin typeface="Open Sans 2"/>
                <a:ea typeface="Open Sans 2"/>
                <a:cs typeface="Open Sans 2"/>
                <a:sym typeface="Open Sans 2"/>
              </a:rPr>
              <a:t>Adaptability is necessary (Job security is now an illusion more than ever before)</a:t>
            </a:r>
          </a:p>
          <a:p>
            <a:pPr algn="just">
              <a:lnSpc>
                <a:spcPts val="5069"/>
              </a:lnSpc>
            </a:pPr>
          </a:p>
          <a:p>
            <a:pPr algn="just">
              <a:lnSpc>
                <a:spcPts val="5069"/>
              </a:lnSpc>
            </a:pPr>
          </a:p>
          <a:p>
            <a:pPr algn="just">
              <a:lnSpc>
                <a:spcPts val="5069"/>
              </a:lnSpc>
            </a:pPr>
            <a:r>
              <a:rPr lang="en-US" b="true" sz="3899">
                <a:solidFill>
                  <a:srgbClr val="000000"/>
                </a:solidFill>
                <a:latin typeface="Inter Bold"/>
                <a:ea typeface="Inter Bold"/>
                <a:cs typeface="Inter Bold"/>
                <a:sym typeface="Inter Bold"/>
              </a:rPr>
              <a:t>Learning new skills is critical to adapt </a:t>
            </a:r>
          </a:p>
          <a:p>
            <a:pPr algn="just">
              <a:lnSpc>
                <a:spcPts val="5069"/>
              </a:lnSpc>
            </a:pPr>
            <a:r>
              <a:rPr lang="en-US" b="true" sz="3899">
                <a:solidFill>
                  <a:srgbClr val="000000"/>
                </a:solidFill>
                <a:latin typeface="Inter Bold"/>
                <a:ea typeface="Inter Bold"/>
                <a:cs typeface="Inter Bold"/>
                <a:sym typeface="Inter Bold"/>
              </a:rPr>
              <a:t>Need to learn beyond books and college</a:t>
            </a:r>
          </a:p>
          <a:p>
            <a:pPr algn="just">
              <a:lnSpc>
                <a:spcPts val="5069"/>
              </a:lnSpc>
            </a:pPr>
          </a:p>
          <a:p>
            <a:pPr algn="just">
              <a:lnSpc>
                <a:spcPts val="5069"/>
              </a:lnSpc>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TextBox 5" id="5"/>
          <p:cNvSpPr txBox="true"/>
          <p:nvPr/>
        </p:nvSpPr>
        <p:spPr>
          <a:xfrm rot="0">
            <a:off x="785812" y="2205037"/>
            <a:ext cx="16829918" cy="4261060"/>
          </a:xfrm>
          <a:prstGeom prst="rect">
            <a:avLst/>
          </a:prstGeom>
        </p:spPr>
        <p:txBody>
          <a:bodyPr anchor="t" rtlCol="false" tIns="0" lIns="0" bIns="0" rIns="0">
            <a:spAutoFit/>
          </a:bodyPr>
          <a:lstStyle/>
          <a:p>
            <a:pPr algn="ctr">
              <a:lnSpc>
                <a:spcPts val="11363"/>
              </a:lnSpc>
            </a:pPr>
            <a:r>
              <a:rPr lang="en-US" b="true" sz="8116">
                <a:solidFill>
                  <a:srgbClr val="000000"/>
                </a:solidFill>
                <a:latin typeface="Inter Bold"/>
                <a:ea typeface="Inter Bold"/>
                <a:cs typeface="Inter Bold"/>
                <a:sym typeface="Inter Bold"/>
              </a:rPr>
              <a:t>WHAT IS THE MOST IMPORTANT SKILL THAT LACKS IN STUDENTS DURING PLACEMENTS?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pic>
        <p:nvPicPr>
          <p:cNvPr name="Picture 5" id="5">
            <a:hlinkClick r:id="rId4" tooltip="https://teams.live.com/meet/9332709055784?p=jq10rRrFglZUixdBW7"/>
          </p:cNvPr>
          <p:cNvPicPr>
            <a:picLocks noChangeAspect="true"/>
          </p:cNvPicPr>
          <p:nvPr/>
        </p:nvPicPr>
        <p:blipFill>
          <a:blip r:embed="rId3"/>
          <a:stretch>
            <a:fillRect/>
          </a:stretch>
        </p:blipFill>
        <p:spPr>
          <a:xfrm rot="0">
            <a:off x="1383142" y="1897976"/>
            <a:ext cx="6804281" cy="8029445"/>
          </a:xfrm>
          <a:prstGeom prst="rect">
            <a:avLst/>
          </a:prstGeom>
        </p:spPr>
      </p:pic>
      <p:sp>
        <p:nvSpPr>
          <p:cNvPr name="TextBox 6" id="6"/>
          <p:cNvSpPr txBox="true"/>
          <p:nvPr/>
        </p:nvSpPr>
        <p:spPr>
          <a:xfrm rot="0">
            <a:off x="4406131" y="-180975"/>
            <a:ext cx="9475738"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Inter Bold"/>
                <a:ea typeface="Inter Bold"/>
                <a:cs typeface="Inter Bold"/>
                <a:sym typeface="Inter Bold"/>
              </a:rPr>
              <a:t>KEY STATISTICS</a:t>
            </a:r>
          </a:p>
        </p:txBody>
      </p:sp>
      <p:sp>
        <p:nvSpPr>
          <p:cNvPr name="TextBox 7" id="7"/>
          <p:cNvSpPr txBox="true"/>
          <p:nvPr/>
        </p:nvSpPr>
        <p:spPr>
          <a:xfrm rot="0">
            <a:off x="3767016" y="1543102"/>
            <a:ext cx="10132144" cy="816084"/>
          </a:xfrm>
          <a:prstGeom prst="rect">
            <a:avLst/>
          </a:prstGeom>
        </p:spPr>
        <p:txBody>
          <a:bodyPr anchor="t" rtlCol="false" tIns="0" lIns="0" bIns="0" rIns="0">
            <a:spAutoFit/>
          </a:bodyPr>
          <a:lstStyle/>
          <a:p>
            <a:pPr algn="ctr">
              <a:lnSpc>
                <a:spcPts val="3238"/>
              </a:lnSpc>
              <a:spcBef>
                <a:spcPct val="0"/>
              </a:spcBef>
            </a:pPr>
            <a:r>
              <a:rPr lang="en-US" sz="2491">
                <a:solidFill>
                  <a:srgbClr val="000000"/>
                </a:solidFill>
                <a:latin typeface="Open Sans 2"/>
                <a:ea typeface="Open Sans 2"/>
                <a:cs typeface="Open Sans 2"/>
                <a:sym typeface="Open Sans 2"/>
              </a:rPr>
              <a:t>42.6% of Indian graduates are employable, down from 44.3% in 2023</a:t>
            </a:r>
          </a:p>
          <a:p>
            <a:pPr algn="ctr">
              <a:lnSpc>
                <a:spcPts val="3238"/>
              </a:lnSpc>
              <a:spcBef>
                <a:spcPct val="0"/>
              </a:spcBef>
            </a:pPr>
          </a:p>
        </p:txBody>
      </p:sp>
      <p:pic>
        <p:nvPicPr>
          <p:cNvPr name="Picture 8" id="8"/>
          <p:cNvPicPr>
            <a:picLocks noChangeAspect="true"/>
          </p:cNvPicPr>
          <p:nvPr/>
        </p:nvPicPr>
        <p:blipFill>
          <a:blip r:embed="rId5"/>
          <a:stretch>
            <a:fillRect/>
          </a:stretch>
        </p:blipFill>
        <p:spPr>
          <a:xfrm rot="0">
            <a:off x="8857117" y="1449484"/>
            <a:ext cx="7674109" cy="8855201"/>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Freeform 5" id="5"/>
          <p:cNvSpPr/>
          <p:nvPr/>
        </p:nvSpPr>
        <p:spPr>
          <a:xfrm flipH="false" flipV="false" rot="0">
            <a:off x="4106355" y="2128608"/>
            <a:ext cx="10075289" cy="6716860"/>
          </a:xfrm>
          <a:custGeom>
            <a:avLst/>
            <a:gdLst/>
            <a:ahLst/>
            <a:cxnLst/>
            <a:rect r="r" b="b" t="t" l="l"/>
            <a:pathLst>
              <a:path h="6716860" w="10075289">
                <a:moveTo>
                  <a:pt x="0" y="0"/>
                </a:moveTo>
                <a:lnTo>
                  <a:pt x="10075290" y="0"/>
                </a:lnTo>
                <a:lnTo>
                  <a:pt x="10075290" y="6716859"/>
                </a:lnTo>
                <a:lnTo>
                  <a:pt x="0" y="6716859"/>
                </a:lnTo>
                <a:lnTo>
                  <a:pt x="0" y="0"/>
                </a:lnTo>
                <a:close/>
              </a:path>
            </a:pathLst>
          </a:custGeom>
          <a:blipFill>
            <a:blip r:embed="rId2"/>
            <a:stretch>
              <a:fillRect l="0" t="0" r="0" b="0"/>
            </a:stretch>
          </a:blipFill>
        </p:spPr>
      </p:sp>
      <p:sp>
        <p:nvSpPr>
          <p:cNvPr name="TextBox 6" id="6"/>
          <p:cNvSpPr txBox="true"/>
          <p:nvPr/>
        </p:nvSpPr>
        <p:spPr>
          <a:xfrm rot="0">
            <a:off x="4911477" y="150178"/>
            <a:ext cx="8465046"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Inter Bold"/>
                <a:ea typeface="Inter Bold"/>
                <a:cs typeface="Inter Bold"/>
                <a:sym typeface="Inter Bold"/>
              </a:rPr>
              <a:t>HOPE &amp; BELIEF</a:t>
            </a:r>
          </a:p>
        </p:txBody>
      </p:sp>
      <p:grpSp>
        <p:nvGrpSpPr>
          <p:cNvPr name="Group 7" id="7"/>
          <p:cNvGrpSpPr/>
          <p:nvPr/>
        </p:nvGrpSpPr>
        <p:grpSpPr>
          <a:xfrm rot="0">
            <a:off x="0" y="-1169233"/>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88AB2"/>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479"/>
                </a:lnSpc>
              </a:pPr>
            </a:p>
          </p:txBody>
        </p:sp>
      </p:grpSp>
      <p:grpSp>
        <p:nvGrpSpPr>
          <p:cNvPr name="Group 10" id="10"/>
          <p:cNvGrpSpPr/>
          <p:nvPr/>
        </p:nvGrpSpPr>
        <p:grpSpPr>
          <a:xfrm rot="0">
            <a:off x="15205323" y="-1211897"/>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88AB2"/>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479"/>
                </a:lnSpc>
              </a:pP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4642156" y="-1150148"/>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88AB2"/>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2479"/>
                </a:lnSpc>
              </a:pPr>
            </a:p>
          </p:txBody>
        </p:sp>
      </p:grpSp>
      <p:sp>
        <p:nvSpPr>
          <p:cNvPr name="TextBox 8" id="8"/>
          <p:cNvSpPr txBox="true"/>
          <p:nvPr/>
        </p:nvSpPr>
        <p:spPr>
          <a:xfrm rot="0">
            <a:off x="785812" y="2157412"/>
            <a:ext cx="16829918" cy="5098378"/>
          </a:xfrm>
          <a:prstGeom prst="rect">
            <a:avLst/>
          </a:prstGeom>
        </p:spPr>
        <p:txBody>
          <a:bodyPr anchor="t" rtlCol="false" tIns="0" lIns="0" bIns="0" rIns="0">
            <a:spAutoFit/>
          </a:bodyPr>
          <a:lstStyle/>
          <a:p>
            <a:pPr algn="ctr">
              <a:lnSpc>
                <a:spcPts val="13512"/>
              </a:lnSpc>
            </a:pPr>
            <a:r>
              <a:rPr lang="en-US" b="true" sz="9651">
                <a:solidFill>
                  <a:srgbClr val="000000"/>
                </a:solidFill>
                <a:latin typeface="Inter Bold"/>
                <a:ea typeface="Inter Bold"/>
                <a:cs typeface="Inter Bold"/>
                <a:sym typeface="Inter Bold"/>
              </a:rPr>
              <a:t>WHAT IS YOUR FIRST IMPRESSION ON THE RECRUITER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Freeform 5" id="5"/>
          <p:cNvSpPr/>
          <p:nvPr/>
        </p:nvSpPr>
        <p:spPr>
          <a:xfrm flipH="false" flipV="false" rot="0">
            <a:off x="6584467" y="3576930"/>
            <a:ext cx="5376534" cy="5376534"/>
          </a:xfrm>
          <a:custGeom>
            <a:avLst/>
            <a:gdLst/>
            <a:ahLst/>
            <a:cxnLst/>
            <a:rect r="r" b="b" t="t" l="l"/>
            <a:pathLst>
              <a:path h="5376534" w="5376534">
                <a:moveTo>
                  <a:pt x="0" y="0"/>
                </a:moveTo>
                <a:lnTo>
                  <a:pt x="5376535" y="0"/>
                </a:lnTo>
                <a:lnTo>
                  <a:pt x="5376535" y="5376535"/>
                </a:lnTo>
                <a:lnTo>
                  <a:pt x="0" y="5376535"/>
                </a:lnTo>
                <a:lnTo>
                  <a:pt x="0" y="0"/>
                </a:lnTo>
                <a:close/>
              </a:path>
            </a:pathLst>
          </a:custGeom>
          <a:blipFill>
            <a:blip r:embed="rId2"/>
            <a:stretch>
              <a:fillRect l="0" t="0" r="0" b="0"/>
            </a:stretch>
          </a:blipFill>
        </p:spPr>
      </p:sp>
      <p:sp>
        <p:nvSpPr>
          <p:cNvPr name="TextBox 6" id="6"/>
          <p:cNvSpPr txBox="true"/>
          <p:nvPr/>
        </p:nvSpPr>
        <p:spPr>
          <a:xfrm rot="0">
            <a:off x="119155" y="-33245"/>
            <a:ext cx="15130403" cy="1344111"/>
          </a:xfrm>
          <a:prstGeom prst="rect">
            <a:avLst/>
          </a:prstGeom>
        </p:spPr>
        <p:txBody>
          <a:bodyPr anchor="t" rtlCol="false" tIns="0" lIns="0" bIns="0" rIns="0">
            <a:spAutoFit/>
          </a:bodyPr>
          <a:lstStyle/>
          <a:p>
            <a:pPr algn="ctr">
              <a:lnSpc>
                <a:spcPts val="10965"/>
              </a:lnSpc>
            </a:pPr>
            <a:r>
              <a:rPr lang="en-US" b="true" sz="7832">
                <a:solidFill>
                  <a:srgbClr val="000000"/>
                </a:solidFill>
                <a:latin typeface="Inter Bold"/>
                <a:ea typeface="Inter Bold"/>
                <a:cs typeface="Inter Bold"/>
                <a:sym typeface="Inter Bold"/>
              </a:rPr>
              <a:t>LET’S GET INTO ACTION MODE</a:t>
            </a:r>
          </a:p>
        </p:txBody>
      </p:sp>
      <p:sp>
        <p:nvSpPr>
          <p:cNvPr name="TextBox 7" id="7"/>
          <p:cNvSpPr txBox="true"/>
          <p:nvPr/>
        </p:nvSpPr>
        <p:spPr>
          <a:xfrm rot="0">
            <a:off x="119155" y="1925716"/>
            <a:ext cx="9485770" cy="1651214"/>
          </a:xfrm>
          <a:prstGeom prst="rect">
            <a:avLst/>
          </a:prstGeom>
        </p:spPr>
        <p:txBody>
          <a:bodyPr anchor="t" rtlCol="false" tIns="0" lIns="0" bIns="0" rIns="0">
            <a:spAutoFit/>
          </a:bodyPr>
          <a:lstStyle/>
          <a:p>
            <a:pPr algn="l">
              <a:lnSpc>
                <a:spcPts val="6638"/>
              </a:lnSpc>
            </a:pPr>
            <a:r>
              <a:rPr lang="en-US" b="true" sz="4741">
                <a:solidFill>
                  <a:srgbClr val="000000"/>
                </a:solidFill>
                <a:latin typeface="Inter Bold"/>
                <a:ea typeface="Inter Bold"/>
                <a:cs typeface="Inter Bold"/>
                <a:sym typeface="Inter Bold"/>
              </a:rPr>
              <a:t>Stepping stone of your journey: Your Resume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Freeform 5" id="5"/>
          <p:cNvSpPr/>
          <p:nvPr/>
        </p:nvSpPr>
        <p:spPr>
          <a:xfrm flipH="false" flipV="false" rot="0">
            <a:off x="468609" y="3556594"/>
            <a:ext cx="11519571" cy="3931053"/>
          </a:xfrm>
          <a:custGeom>
            <a:avLst/>
            <a:gdLst/>
            <a:ahLst/>
            <a:cxnLst/>
            <a:rect r="r" b="b" t="t" l="l"/>
            <a:pathLst>
              <a:path h="3931053" w="11519571">
                <a:moveTo>
                  <a:pt x="0" y="0"/>
                </a:moveTo>
                <a:lnTo>
                  <a:pt x="11519571" y="0"/>
                </a:lnTo>
                <a:lnTo>
                  <a:pt x="11519571" y="3931054"/>
                </a:lnTo>
                <a:lnTo>
                  <a:pt x="0" y="3931054"/>
                </a:lnTo>
                <a:lnTo>
                  <a:pt x="0" y="0"/>
                </a:lnTo>
                <a:close/>
              </a:path>
            </a:pathLst>
          </a:custGeom>
          <a:blipFill>
            <a:blip r:embed="rId2"/>
            <a:stretch>
              <a:fillRect l="0" t="0" r="0" b="0"/>
            </a:stretch>
          </a:blipFill>
        </p:spPr>
      </p:sp>
      <p:sp>
        <p:nvSpPr>
          <p:cNvPr name="TextBox 6" id="6"/>
          <p:cNvSpPr txBox="true"/>
          <p:nvPr/>
        </p:nvSpPr>
        <p:spPr>
          <a:xfrm rot="0">
            <a:off x="104812" y="1800831"/>
            <a:ext cx="18078376" cy="1203313"/>
          </a:xfrm>
          <a:prstGeom prst="rect">
            <a:avLst/>
          </a:prstGeom>
        </p:spPr>
        <p:txBody>
          <a:bodyPr anchor="t" rtlCol="false" tIns="0" lIns="0" bIns="0" rIns="0">
            <a:spAutoFit/>
          </a:bodyPr>
          <a:lstStyle/>
          <a:p>
            <a:pPr algn="ctr">
              <a:lnSpc>
                <a:spcPts val="9800"/>
              </a:lnSpc>
            </a:pPr>
            <a:r>
              <a:rPr lang="en-US" b="true" sz="7000">
                <a:solidFill>
                  <a:srgbClr val="000000"/>
                </a:solidFill>
                <a:latin typeface="Inter Bold"/>
                <a:ea typeface="Inter Bold"/>
                <a:cs typeface="Inter Bold"/>
                <a:sym typeface="Inter Bold"/>
              </a:rPr>
              <a:t>How confident are you with your resume?</a:t>
            </a:r>
          </a:p>
        </p:txBody>
      </p:sp>
      <p:sp>
        <p:nvSpPr>
          <p:cNvPr name="TextBox 7" id="7"/>
          <p:cNvSpPr txBox="true"/>
          <p:nvPr/>
        </p:nvSpPr>
        <p:spPr>
          <a:xfrm rot="0">
            <a:off x="32041" y="-133350"/>
            <a:ext cx="6164312" cy="1186424"/>
          </a:xfrm>
          <a:prstGeom prst="rect">
            <a:avLst/>
          </a:prstGeom>
        </p:spPr>
        <p:txBody>
          <a:bodyPr anchor="t" rtlCol="false" tIns="0" lIns="0" bIns="0" rIns="0">
            <a:spAutoFit/>
          </a:bodyPr>
          <a:lstStyle/>
          <a:p>
            <a:pPr algn="ctr">
              <a:lnSpc>
                <a:spcPts val="9681"/>
              </a:lnSpc>
            </a:pPr>
            <a:r>
              <a:rPr lang="en-US" b="true" sz="6915">
                <a:solidFill>
                  <a:srgbClr val="000000"/>
                </a:solidFill>
                <a:latin typeface="Inter Bold"/>
                <a:ea typeface="Inter Bold"/>
                <a:cs typeface="Inter Bold"/>
                <a:sym typeface="Inter Bold"/>
              </a:rPr>
              <a:t>QUICK CHECK</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Freeform 5" id="5"/>
          <p:cNvSpPr/>
          <p:nvPr/>
        </p:nvSpPr>
        <p:spPr>
          <a:xfrm flipH="false" flipV="false" rot="0">
            <a:off x="888649" y="1880680"/>
            <a:ext cx="16370651" cy="5299998"/>
          </a:xfrm>
          <a:custGeom>
            <a:avLst/>
            <a:gdLst/>
            <a:ahLst/>
            <a:cxnLst/>
            <a:rect r="r" b="b" t="t" l="l"/>
            <a:pathLst>
              <a:path h="5299998" w="16370651">
                <a:moveTo>
                  <a:pt x="0" y="0"/>
                </a:moveTo>
                <a:lnTo>
                  <a:pt x="16370651" y="0"/>
                </a:lnTo>
                <a:lnTo>
                  <a:pt x="16370651" y="5299999"/>
                </a:lnTo>
                <a:lnTo>
                  <a:pt x="0" y="5299999"/>
                </a:lnTo>
                <a:lnTo>
                  <a:pt x="0" y="0"/>
                </a:lnTo>
                <a:close/>
              </a:path>
            </a:pathLst>
          </a:custGeom>
          <a:blipFill>
            <a:blip r:embed="rId2"/>
            <a:stretch>
              <a:fillRect l="0" t="0" r="0" b="0"/>
            </a:stretch>
          </a:blipFill>
        </p:spPr>
      </p:sp>
      <p:sp>
        <p:nvSpPr>
          <p:cNvPr name="TextBox 6" id="6"/>
          <p:cNvSpPr txBox="true"/>
          <p:nvPr/>
        </p:nvSpPr>
        <p:spPr>
          <a:xfrm rot="0">
            <a:off x="61092" y="92139"/>
            <a:ext cx="18025765" cy="1045358"/>
          </a:xfrm>
          <a:prstGeom prst="rect">
            <a:avLst/>
          </a:prstGeom>
        </p:spPr>
        <p:txBody>
          <a:bodyPr anchor="t" rtlCol="false" tIns="0" lIns="0" bIns="0" rIns="0">
            <a:spAutoFit/>
          </a:bodyPr>
          <a:lstStyle/>
          <a:p>
            <a:pPr algn="ctr">
              <a:lnSpc>
                <a:spcPts val="8531"/>
              </a:lnSpc>
            </a:pPr>
            <a:r>
              <a:rPr lang="en-US" b="true" sz="6094">
                <a:solidFill>
                  <a:srgbClr val="000000"/>
                </a:solidFill>
                <a:latin typeface="Inter Bold"/>
                <a:ea typeface="Inter Bold"/>
                <a:cs typeface="Inter Bold"/>
                <a:sym typeface="Inter Bold"/>
              </a:rPr>
              <a:t>WHAT MAKES A MODERN RESUME EFFECTIVE?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Freeform 5" id="5"/>
          <p:cNvSpPr/>
          <p:nvPr/>
        </p:nvSpPr>
        <p:spPr>
          <a:xfrm flipH="false" flipV="false" rot="0">
            <a:off x="129275" y="2124916"/>
            <a:ext cx="6401744" cy="7854901"/>
          </a:xfrm>
          <a:custGeom>
            <a:avLst/>
            <a:gdLst/>
            <a:ahLst/>
            <a:cxnLst/>
            <a:rect r="r" b="b" t="t" l="l"/>
            <a:pathLst>
              <a:path h="7854901" w="6401744">
                <a:moveTo>
                  <a:pt x="0" y="0"/>
                </a:moveTo>
                <a:lnTo>
                  <a:pt x="6401744" y="0"/>
                </a:lnTo>
                <a:lnTo>
                  <a:pt x="6401744" y="7854901"/>
                </a:lnTo>
                <a:lnTo>
                  <a:pt x="0" y="7854901"/>
                </a:lnTo>
                <a:lnTo>
                  <a:pt x="0" y="0"/>
                </a:lnTo>
                <a:close/>
              </a:path>
            </a:pathLst>
          </a:custGeom>
          <a:blipFill>
            <a:blip r:embed="rId2"/>
            <a:stretch>
              <a:fillRect l="0" t="0" r="0" b="0"/>
            </a:stretch>
          </a:blipFill>
        </p:spPr>
      </p:sp>
      <p:sp>
        <p:nvSpPr>
          <p:cNvPr name="Freeform 6" id="6"/>
          <p:cNvSpPr/>
          <p:nvPr/>
        </p:nvSpPr>
        <p:spPr>
          <a:xfrm flipH="false" flipV="false" rot="0">
            <a:off x="6531019" y="2263930"/>
            <a:ext cx="6345976" cy="7357653"/>
          </a:xfrm>
          <a:custGeom>
            <a:avLst/>
            <a:gdLst/>
            <a:ahLst/>
            <a:cxnLst/>
            <a:rect r="r" b="b" t="t" l="l"/>
            <a:pathLst>
              <a:path h="7357653" w="6345976">
                <a:moveTo>
                  <a:pt x="0" y="0"/>
                </a:moveTo>
                <a:lnTo>
                  <a:pt x="6345977" y="0"/>
                </a:lnTo>
                <a:lnTo>
                  <a:pt x="6345977" y="7357653"/>
                </a:lnTo>
                <a:lnTo>
                  <a:pt x="0" y="7357653"/>
                </a:lnTo>
                <a:lnTo>
                  <a:pt x="0" y="0"/>
                </a:lnTo>
                <a:close/>
              </a:path>
            </a:pathLst>
          </a:custGeom>
          <a:blipFill>
            <a:blip r:embed="rId3"/>
            <a:stretch>
              <a:fillRect l="0" t="0" r="0" b="0"/>
            </a:stretch>
          </a:blipFill>
        </p:spPr>
      </p:sp>
      <p:sp>
        <p:nvSpPr>
          <p:cNvPr name="Freeform 7" id="7"/>
          <p:cNvSpPr/>
          <p:nvPr/>
        </p:nvSpPr>
        <p:spPr>
          <a:xfrm flipH="false" flipV="false" rot="0">
            <a:off x="12722788" y="2383085"/>
            <a:ext cx="5565212" cy="6353418"/>
          </a:xfrm>
          <a:custGeom>
            <a:avLst/>
            <a:gdLst/>
            <a:ahLst/>
            <a:cxnLst/>
            <a:rect r="r" b="b" t="t" l="l"/>
            <a:pathLst>
              <a:path h="6353418" w="5565212">
                <a:moveTo>
                  <a:pt x="0" y="0"/>
                </a:moveTo>
                <a:lnTo>
                  <a:pt x="5565212" y="0"/>
                </a:lnTo>
                <a:lnTo>
                  <a:pt x="5565212" y="6353417"/>
                </a:lnTo>
                <a:lnTo>
                  <a:pt x="0" y="6353417"/>
                </a:lnTo>
                <a:lnTo>
                  <a:pt x="0" y="0"/>
                </a:lnTo>
                <a:close/>
              </a:path>
            </a:pathLst>
          </a:custGeom>
          <a:blipFill>
            <a:blip r:embed="rId4"/>
            <a:stretch>
              <a:fillRect l="0" t="0" r="0" b="0"/>
            </a:stretch>
          </a:blipFill>
        </p:spPr>
      </p:sp>
      <p:sp>
        <p:nvSpPr>
          <p:cNvPr name="TextBox 8" id="8"/>
          <p:cNvSpPr txBox="true"/>
          <p:nvPr/>
        </p:nvSpPr>
        <p:spPr>
          <a:xfrm rot="0">
            <a:off x="13435" y="3987"/>
            <a:ext cx="14805645" cy="1336211"/>
          </a:xfrm>
          <a:prstGeom prst="rect">
            <a:avLst/>
          </a:prstGeom>
        </p:spPr>
        <p:txBody>
          <a:bodyPr anchor="t" rtlCol="false" tIns="0" lIns="0" bIns="0" rIns="0">
            <a:spAutoFit/>
          </a:bodyPr>
          <a:lstStyle/>
          <a:p>
            <a:pPr algn="ctr">
              <a:lnSpc>
                <a:spcPts val="10875"/>
              </a:lnSpc>
            </a:pPr>
            <a:r>
              <a:rPr lang="en-US" b="true" sz="7768">
                <a:solidFill>
                  <a:srgbClr val="000000"/>
                </a:solidFill>
                <a:latin typeface="Inter Bold"/>
                <a:ea typeface="Inter Bold"/>
                <a:cs typeface="Inter Bold"/>
                <a:sym typeface="Inter Bold"/>
              </a:rPr>
              <a:t>WHAT DO YOU THINK ABOUT?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Freeform 2" id="2"/>
          <p:cNvSpPr/>
          <p:nvPr/>
        </p:nvSpPr>
        <p:spPr>
          <a:xfrm flipH="false" flipV="false" rot="0">
            <a:off x="4267495" y="115818"/>
            <a:ext cx="7869952" cy="10171182"/>
          </a:xfrm>
          <a:custGeom>
            <a:avLst/>
            <a:gdLst/>
            <a:ahLst/>
            <a:cxnLst/>
            <a:rect r="r" b="b" t="t" l="l"/>
            <a:pathLst>
              <a:path h="10171182" w="7869952">
                <a:moveTo>
                  <a:pt x="0" y="0"/>
                </a:moveTo>
                <a:lnTo>
                  <a:pt x="7869952" y="0"/>
                </a:lnTo>
                <a:lnTo>
                  <a:pt x="7869952" y="10171182"/>
                </a:lnTo>
                <a:lnTo>
                  <a:pt x="0" y="10171182"/>
                </a:lnTo>
                <a:lnTo>
                  <a:pt x="0" y="0"/>
                </a:lnTo>
                <a:close/>
              </a:path>
            </a:pathLst>
          </a:custGeom>
          <a:blipFill>
            <a:blip r:embed="rId2"/>
            <a:stretch>
              <a:fillRect l="0" t="0" r="0" b="0"/>
            </a:stretch>
          </a:blipFill>
        </p:spPr>
      </p:sp>
      <p:sp>
        <p:nvSpPr>
          <p:cNvPr name="TextBox 3" id="3"/>
          <p:cNvSpPr txBox="true"/>
          <p:nvPr/>
        </p:nvSpPr>
        <p:spPr>
          <a:xfrm rot="0">
            <a:off x="129275" y="-34923"/>
            <a:ext cx="3271242" cy="1566544"/>
          </a:xfrm>
          <a:prstGeom prst="rect">
            <a:avLst/>
          </a:prstGeom>
        </p:spPr>
        <p:txBody>
          <a:bodyPr anchor="t" rtlCol="false" tIns="0" lIns="0" bIns="0" rIns="0">
            <a:spAutoFit/>
          </a:bodyPr>
          <a:lstStyle/>
          <a:p>
            <a:pPr algn="ctr">
              <a:lnSpc>
                <a:spcPts val="12880"/>
              </a:lnSpc>
            </a:pPr>
            <a:r>
              <a:rPr lang="en-US" sz="9200" b="true">
                <a:solidFill>
                  <a:srgbClr val="121212"/>
                </a:solidFill>
                <a:latin typeface="Canva Sans Bold"/>
                <a:ea typeface="Canva Sans Bold"/>
                <a:cs typeface="Canva Sans Bold"/>
                <a:sym typeface="Canva Sans Bold"/>
              </a:rPr>
              <a:t>And...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Freeform 5" id="5"/>
          <p:cNvSpPr/>
          <p:nvPr/>
        </p:nvSpPr>
        <p:spPr>
          <a:xfrm flipH="false" flipV="false" rot="0">
            <a:off x="1779122" y="3727365"/>
            <a:ext cx="6466131" cy="5471963"/>
          </a:xfrm>
          <a:custGeom>
            <a:avLst/>
            <a:gdLst/>
            <a:ahLst/>
            <a:cxnLst/>
            <a:rect r="r" b="b" t="t" l="l"/>
            <a:pathLst>
              <a:path h="5471963" w="6466131">
                <a:moveTo>
                  <a:pt x="0" y="0"/>
                </a:moveTo>
                <a:lnTo>
                  <a:pt x="6466131" y="0"/>
                </a:lnTo>
                <a:lnTo>
                  <a:pt x="6466131" y="5471964"/>
                </a:lnTo>
                <a:lnTo>
                  <a:pt x="0" y="5471964"/>
                </a:lnTo>
                <a:lnTo>
                  <a:pt x="0" y="0"/>
                </a:lnTo>
                <a:close/>
              </a:path>
            </a:pathLst>
          </a:custGeom>
          <a:blipFill>
            <a:blip r:embed="rId2"/>
            <a:stretch>
              <a:fillRect l="0" t="0" r="0" b="0"/>
            </a:stretch>
          </a:blipFill>
        </p:spPr>
      </p:sp>
      <p:sp>
        <p:nvSpPr>
          <p:cNvPr name="Freeform 6" id="6"/>
          <p:cNvSpPr/>
          <p:nvPr/>
        </p:nvSpPr>
        <p:spPr>
          <a:xfrm flipH="false" flipV="false" rot="0">
            <a:off x="10007470" y="3727365"/>
            <a:ext cx="6755275" cy="5530935"/>
          </a:xfrm>
          <a:custGeom>
            <a:avLst/>
            <a:gdLst/>
            <a:ahLst/>
            <a:cxnLst/>
            <a:rect r="r" b="b" t="t" l="l"/>
            <a:pathLst>
              <a:path h="5530935" w="6755275">
                <a:moveTo>
                  <a:pt x="0" y="0"/>
                </a:moveTo>
                <a:lnTo>
                  <a:pt x="6755275" y="0"/>
                </a:lnTo>
                <a:lnTo>
                  <a:pt x="6755275" y="5530935"/>
                </a:lnTo>
                <a:lnTo>
                  <a:pt x="0" y="5530935"/>
                </a:lnTo>
                <a:lnTo>
                  <a:pt x="0" y="0"/>
                </a:lnTo>
                <a:close/>
              </a:path>
            </a:pathLst>
          </a:custGeom>
          <a:blipFill>
            <a:blip r:embed="rId3"/>
            <a:stretch>
              <a:fillRect l="0" t="0" r="0" b="0"/>
            </a:stretch>
          </a:blipFill>
        </p:spPr>
      </p:sp>
      <p:sp>
        <p:nvSpPr>
          <p:cNvPr name="TextBox 7" id="7"/>
          <p:cNvSpPr txBox="true"/>
          <p:nvPr/>
        </p:nvSpPr>
        <p:spPr>
          <a:xfrm rot="0">
            <a:off x="0" y="159703"/>
            <a:ext cx="16762745" cy="1394761"/>
          </a:xfrm>
          <a:prstGeom prst="rect">
            <a:avLst/>
          </a:prstGeom>
        </p:spPr>
        <p:txBody>
          <a:bodyPr anchor="t" rtlCol="false" tIns="0" lIns="0" bIns="0" rIns="0">
            <a:spAutoFit/>
          </a:bodyPr>
          <a:lstStyle/>
          <a:p>
            <a:pPr algn="ctr">
              <a:lnSpc>
                <a:spcPts val="11323"/>
              </a:lnSpc>
            </a:pPr>
            <a:r>
              <a:rPr lang="en-US" b="true" sz="8088">
                <a:solidFill>
                  <a:srgbClr val="000000"/>
                </a:solidFill>
                <a:latin typeface="Inter Bold"/>
                <a:ea typeface="Inter Bold"/>
                <a:cs typeface="Inter Bold"/>
                <a:sym typeface="Inter Bold"/>
              </a:rPr>
              <a:t>HOW AN ATS COMPARED THEM?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sp>
        <p:nvSpPr>
          <p:cNvPr name="Freeform 5" id="5"/>
          <p:cNvSpPr/>
          <p:nvPr/>
        </p:nvSpPr>
        <p:spPr>
          <a:xfrm flipH="false" flipV="false" rot="0">
            <a:off x="777884" y="2916967"/>
            <a:ext cx="16732232" cy="4453065"/>
          </a:xfrm>
          <a:custGeom>
            <a:avLst/>
            <a:gdLst/>
            <a:ahLst/>
            <a:cxnLst/>
            <a:rect r="r" b="b" t="t" l="l"/>
            <a:pathLst>
              <a:path h="4453065" w="16732232">
                <a:moveTo>
                  <a:pt x="0" y="0"/>
                </a:moveTo>
                <a:lnTo>
                  <a:pt x="16732232" y="0"/>
                </a:lnTo>
                <a:lnTo>
                  <a:pt x="16732232" y="4453066"/>
                </a:lnTo>
                <a:lnTo>
                  <a:pt x="0" y="4453066"/>
                </a:lnTo>
                <a:lnTo>
                  <a:pt x="0" y="0"/>
                </a:lnTo>
                <a:close/>
              </a:path>
            </a:pathLst>
          </a:custGeom>
          <a:blipFill>
            <a:blip r:embed="rId2"/>
            <a:stretch>
              <a:fillRect l="0" t="-19769" r="0" b="0"/>
            </a:stretch>
          </a:blipFill>
        </p:spPr>
      </p:sp>
      <p:sp>
        <p:nvSpPr>
          <p:cNvPr name="TextBox 6" id="6"/>
          <p:cNvSpPr txBox="true"/>
          <p:nvPr/>
        </p:nvSpPr>
        <p:spPr>
          <a:xfrm rot="0">
            <a:off x="33375" y="151716"/>
            <a:ext cx="18221251" cy="1021435"/>
          </a:xfrm>
          <a:prstGeom prst="rect">
            <a:avLst/>
          </a:prstGeom>
        </p:spPr>
        <p:txBody>
          <a:bodyPr anchor="t" rtlCol="false" tIns="0" lIns="0" bIns="0" rIns="0">
            <a:spAutoFit/>
          </a:bodyPr>
          <a:lstStyle/>
          <a:p>
            <a:pPr algn="ctr">
              <a:lnSpc>
                <a:spcPts val="8275"/>
              </a:lnSpc>
            </a:pPr>
            <a:r>
              <a:rPr lang="en-US" b="true" sz="5911">
                <a:solidFill>
                  <a:srgbClr val="000000"/>
                </a:solidFill>
                <a:latin typeface="Inter Bold"/>
                <a:ea typeface="Inter Bold"/>
                <a:cs typeface="Inter Bold"/>
                <a:sym typeface="Inter Bold"/>
              </a:rPr>
              <a:t>WHAT WOULD MAKE YOUR RESUME STANDOUT?</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D9CFC2"/>
        </a:solidFill>
      </p:bgPr>
    </p:bg>
    <p:spTree>
      <p:nvGrpSpPr>
        <p:cNvPr id="1" name=""/>
        <p:cNvGrpSpPr/>
        <p:nvPr/>
      </p:nvGrpSpPr>
      <p:grpSpPr>
        <a:xfrm>
          <a:off x="0" y="0"/>
          <a:ext cx="0" cy="0"/>
          <a:chOff x="0" y="0"/>
          <a:chExt cx="0" cy="0"/>
        </a:xfrm>
      </p:grpSpPr>
      <p:sp>
        <p:nvSpPr>
          <p:cNvPr name="TextBox 2" id="2"/>
          <p:cNvSpPr txBox="true"/>
          <p:nvPr/>
        </p:nvSpPr>
        <p:spPr>
          <a:xfrm rot="0">
            <a:off x="792726" y="575318"/>
            <a:ext cx="13938538" cy="1057275"/>
          </a:xfrm>
          <a:prstGeom prst="rect">
            <a:avLst/>
          </a:prstGeom>
        </p:spPr>
        <p:txBody>
          <a:bodyPr anchor="t" rtlCol="false" tIns="0" lIns="0" bIns="0" rIns="0">
            <a:spAutoFit/>
          </a:bodyPr>
          <a:lstStyle/>
          <a:p>
            <a:pPr algn="l" marL="0" indent="0" lvl="0">
              <a:lnSpc>
                <a:spcPts val="8399"/>
              </a:lnSpc>
            </a:pPr>
            <a:r>
              <a:rPr lang="en-US" b="true" sz="6999">
                <a:solidFill>
                  <a:srgbClr val="000000"/>
                </a:solidFill>
                <a:latin typeface="Inter Bold"/>
                <a:ea typeface="Inter Bold"/>
                <a:cs typeface="Inter Bold"/>
                <a:sym typeface="Inter Bold"/>
              </a:rPr>
              <a:t>WHAT DO WE OFFER</a:t>
            </a:r>
          </a:p>
        </p:txBody>
      </p:sp>
      <p:grpSp>
        <p:nvGrpSpPr>
          <p:cNvPr name="Group 3" id="3"/>
          <p:cNvGrpSpPr/>
          <p:nvPr/>
        </p:nvGrpSpPr>
        <p:grpSpPr>
          <a:xfrm rot="0">
            <a:off x="455963" y="2887827"/>
            <a:ext cx="7714516" cy="2859478"/>
            <a:chOff x="0" y="0"/>
            <a:chExt cx="10286022" cy="3812638"/>
          </a:xfrm>
        </p:grpSpPr>
        <p:sp>
          <p:nvSpPr>
            <p:cNvPr name="TextBox 4" id="4"/>
            <p:cNvSpPr txBox="true"/>
            <p:nvPr/>
          </p:nvSpPr>
          <p:spPr>
            <a:xfrm rot="0">
              <a:off x="0" y="0"/>
              <a:ext cx="10286022" cy="544468"/>
            </a:xfrm>
            <a:prstGeom prst="rect">
              <a:avLst/>
            </a:prstGeom>
          </p:spPr>
          <p:txBody>
            <a:bodyPr anchor="t" rtlCol="false" tIns="0" lIns="0" bIns="0" rIns="0">
              <a:spAutoFit/>
            </a:bodyPr>
            <a:lstStyle/>
            <a:p>
              <a:pPr algn="l" marL="0" indent="0" lvl="0">
                <a:lnSpc>
                  <a:spcPts val="3246"/>
                </a:lnSpc>
                <a:spcBef>
                  <a:spcPct val="0"/>
                </a:spcBef>
              </a:pPr>
              <a:r>
                <a:rPr lang="en-US" b="true" sz="2705">
                  <a:solidFill>
                    <a:srgbClr val="000000"/>
                  </a:solidFill>
                  <a:latin typeface="Inter Bold"/>
                  <a:ea typeface="Inter Bold"/>
                  <a:cs typeface="Inter Bold"/>
                  <a:sym typeface="Inter Bold"/>
                </a:rPr>
                <a:t>Structu</a:t>
              </a:r>
              <a:r>
                <a:rPr lang="en-US" b="true" sz="2705">
                  <a:solidFill>
                    <a:srgbClr val="000000"/>
                  </a:solidFill>
                  <a:latin typeface="Inter Bold"/>
                  <a:ea typeface="Inter Bold"/>
                  <a:cs typeface="Inter Bold"/>
                  <a:sym typeface="Inter Bold"/>
                </a:rPr>
                <a:t>red Pathways with Resources </a:t>
              </a:r>
            </a:p>
          </p:txBody>
        </p:sp>
        <p:sp>
          <p:nvSpPr>
            <p:cNvPr name="TextBox 5" id="5"/>
            <p:cNvSpPr txBox="true"/>
            <p:nvPr/>
          </p:nvSpPr>
          <p:spPr>
            <a:xfrm rot="0">
              <a:off x="0" y="1002497"/>
              <a:ext cx="10286022" cy="2810140"/>
            </a:xfrm>
            <a:prstGeom prst="rect">
              <a:avLst/>
            </a:prstGeom>
          </p:spPr>
          <p:txBody>
            <a:bodyPr anchor="t" rtlCol="false" tIns="0" lIns="0" bIns="0" rIns="0">
              <a:spAutoFit/>
            </a:bodyPr>
            <a:lstStyle/>
            <a:p>
              <a:pPr algn="l" marL="0" indent="0" lvl="0">
                <a:lnSpc>
                  <a:spcPts val="3435"/>
                </a:lnSpc>
                <a:spcBef>
                  <a:spcPct val="0"/>
                </a:spcBef>
              </a:pPr>
              <a:r>
                <a:rPr lang="en-US" sz="2453">
                  <a:solidFill>
                    <a:srgbClr val="000000"/>
                  </a:solidFill>
                  <a:latin typeface="Open Sans 2"/>
                  <a:ea typeface="Open Sans 2"/>
                  <a:cs typeface="Open Sans 2"/>
                  <a:sym typeface="Open Sans 2"/>
                </a:rPr>
                <a:t>Carefully crafted learning pathways tailored to each student’s skill level. These pathways are designed to help students build on what they already know and confidently take the next step in their preparation journey.</a:t>
              </a:r>
            </a:p>
          </p:txBody>
        </p:sp>
      </p:grpSp>
      <p:grpSp>
        <p:nvGrpSpPr>
          <p:cNvPr name="Group 6" id="6"/>
          <p:cNvGrpSpPr/>
          <p:nvPr/>
        </p:nvGrpSpPr>
        <p:grpSpPr>
          <a:xfrm rot="0">
            <a:off x="792726" y="7327091"/>
            <a:ext cx="7377754" cy="2483044"/>
            <a:chOff x="0" y="0"/>
            <a:chExt cx="9837005" cy="3310725"/>
          </a:xfrm>
        </p:grpSpPr>
        <p:sp>
          <p:nvSpPr>
            <p:cNvPr name="TextBox 7" id="7"/>
            <p:cNvSpPr txBox="true"/>
            <p:nvPr/>
          </p:nvSpPr>
          <p:spPr>
            <a:xfrm rot="0">
              <a:off x="0" y="-9525"/>
              <a:ext cx="9837005" cy="593725"/>
            </a:xfrm>
            <a:prstGeom prst="rect">
              <a:avLst/>
            </a:prstGeom>
          </p:spPr>
          <p:txBody>
            <a:bodyPr anchor="t" rtlCol="false" tIns="0" lIns="0" bIns="0" rIns="0">
              <a:spAutoFit/>
            </a:bodyPr>
            <a:lstStyle/>
            <a:p>
              <a:pPr algn="l" marL="0" indent="0" lvl="0">
                <a:lnSpc>
                  <a:spcPts val="3469"/>
                </a:lnSpc>
                <a:spcBef>
                  <a:spcPct val="0"/>
                </a:spcBef>
              </a:pPr>
              <a:r>
                <a:rPr lang="en-US" b="true" sz="2891">
                  <a:solidFill>
                    <a:srgbClr val="000000"/>
                  </a:solidFill>
                  <a:latin typeface="Inter Bold"/>
                  <a:ea typeface="Inter Bold"/>
                  <a:cs typeface="Inter Bold"/>
                  <a:sym typeface="Inter Bold"/>
                </a:rPr>
                <a:t>Regular Assessments</a:t>
              </a:r>
            </a:p>
          </p:txBody>
        </p:sp>
        <p:sp>
          <p:nvSpPr>
            <p:cNvPr name="TextBox 8" id="8"/>
            <p:cNvSpPr txBox="true"/>
            <p:nvPr/>
          </p:nvSpPr>
          <p:spPr>
            <a:xfrm rot="0">
              <a:off x="0" y="1001522"/>
              <a:ext cx="9837005" cy="2309203"/>
            </a:xfrm>
            <a:prstGeom prst="rect">
              <a:avLst/>
            </a:prstGeom>
          </p:spPr>
          <p:txBody>
            <a:bodyPr anchor="t" rtlCol="false" tIns="0" lIns="0" bIns="0" rIns="0">
              <a:spAutoFit/>
            </a:bodyPr>
            <a:lstStyle/>
            <a:p>
              <a:pPr algn="l" marL="0" indent="0" lvl="0">
                <a:lnSpc>
                  <a:spcPts val="3503"/>
                </a:lnSpc>
                <a:spcBef>
                  <a:spcPct val="0"/>
                </a:spcBef>
              </a:pPr>
              <a:r>
                <a:rPr lang="en-US" sz="2502">
                  <a:solidFill>
                    <a:srgbClr val="000000"/>
                  </a:solidFill>
                  <a:latin typeface="Open Sans 2"/>
                  <a:ea typeface="Open Sans 2"/>
                  <a:cs typeface="Open Sans 2"/>
                  <a:sym typeface="Open Sans 2"/>
                </a:rPr>
                <a:t>Var</a:t>
              </a:r>
              <a:r>
                <a:rPr lang="en-US" sz="2502">
                  <a:solidFill>
                    <a:srgbClr val="000000"/>
                  </a:solidFill>
                  <a:latin typeface="Open Sans 2"/>
                  <a:ea typeface="Open Sans 2"/>
                  <a:cs typeface="Open Sans 2"/>
                  <a:sym typeface="Open Sans 2"/>
                </a:rPr>
                <a:t>ied assessments are created for students to understand where they are with respect to their placement preperation and track their progress regularly. </a:t>
              </a:r>
            </a:p>
          </p:txBody>
        </p:sp>
      </p:grpSp>
      <p:grpSp>
        <p:nvGrpSpPr>
          <p:cNvPr name="Group 9" id="9"/>
          <p:cNvGrpSpPr/>
          <p:nvPr/>
        </p:nvGrpSpPr>
        <p:grpSpPr>
          <a:xfrm rot="0">
            <a:off x="9871821" y="2887827"/>
            <a:ext cx="7559391" cy="2483044"/>
            <a:chOff x="0" y="0"/>
            <a:chExt cx="10079188" cy="3310725"/>
          </a:xfrm>
        </p:grpSpPr>
        <p:sp>
          <p:nvSpPr>
            <p:cNvPr name="TextBox 10" id="10"/>
            <p:cNvSpPr txBox="true"/>
            <p:nvPr/>
          </p:nvSpPr>
          <p:spPr>
            <a:xfrm rot="0">
              <a:off x="0" y="-9525"/>
              <a:ext cx="10079188" cy="593725"/>
            </a:xfrm>
            <a:prstGeom prst="rect">
              <a:avLst/>
            </a:prstGeom>
          </p:spPr>
          <p:txBody>
            <a:bodyPr anchor="t" rtlCol="false" tIns="0" lIns="0" bIns="0" rIns="0">
              <a:spAutoFit/>
            </a:bodyPr>
            <a:lstStyle/>
            <a:p>
              <a:pPr algn="l" marL="0" indent="0" lvl="0">
                <a:lnSpc>
                  <a:spcPts val="3469"/>
                </a:lnSpc>
                <a:spcBef>
                  <a:spcPct val="0"/>
                </a:spcBef>
              </a:pPr>
              <a:r>
                <a:rPr lang="en-US" b="true" sz="2891">
                  <a:solidFill>
                    <a:srgbClr val="000000"/>
                  </a:solidFill>
                  <a:latin typeface="Inter Bold"/>
                  <a:ea typeface="Inter Bold"/>
                  <a:cs typeface="Inter Bold"/>
                  <a:sym typeface="Inter Bold"/>
                </a:rPr>
                <a:t>Interview Preperation</a:t>
              </a:r>
              <a:r>
                <a:rPr lang="en-US" b="true" sz="2891">
                  <a:solidFill>
                    <a:srgbClr val="000000"/>
                  </a:solidFill>
                  <a:latin typeface="Inter Bold"/>
                  <a:ea typeface="Inter Bold"/>
                  <a:cs typeface="Inter Bold"/>
                  <a:sym typeface="Inter Bold"/>
                </a:rPr>
                <a:t> </a:t>
              </a:r>
            </a:p>
          </p:txBody>
        </p:sp>
        <p:sp>
          <p:nvSpPr>
            <p:cNvPr name="TextBox 11" id="11"/>
            <p:cNvSpPr txBox="true"/>
            <p:nvPr/>
          </p:nvSpPr>
          <p:spPr>
            <a:xfrm rot="0">
              <a:off x="0" y="1001522"/>
              <a:ext cx="10079188" cy="2309203"/>
            </a:xfrm>
            <a:prstGeom prst="rect">
              <a:avLst/>
            </a:prstGeom>
          </p:spPr>
          <p:txBody>
            <a:bodyPr anchor="t" rtlCol="false" tIns="0" lIns="0" bIns="0" rIns="0">
              <a:spAutoFit/>
            </a:bodyPr>
            <a:lstStyle/>
            <a:p>
              <a:pPr algn="l" marL="0" indent="0" lvl="0">
                <a:lnSpc>
                  <a:spcPts val="3503"/>
                </a:lnSpc>
                <a:spcBef>
                  <a:spcPct val="0"/>
                </a:spcBef>
              </a:pPr>
              <a:r>
                <a:rPr lang="en-US" sz="2502">
                  <a:solidFill>
                    <a:srgbClr val="000000"/>
                  </a:solidFill>
                  <a:latin typeface="Open Sans 2"/>
                  <a:ea typeface="Open Sans 2"/>
                  <a:cs typeface="Open Sans 2"/>
                  <a:sym typeface="Open Sans 2"/>
                </a:rPr>
                <a:t>I</a:t>
              </a:r>
              <a:r>
                <a:rPr lang="en-US" sz="2502">
                  <a:solidFill>
                    <a:srgbClr val="000000"/>
                  </a:solidFill>
                  <a:latin typeface="Open Sans 2"/>
                  <a:ea typeface="Open Sans 2"/>
                  <a:cs typeface="Open Sans 2"/>
                  <a:sym typeface="Open Sans 2"/>
                </a:rPr>
                <a:t>nterview preparation module to help students prepare specially with soft skills and how to apply the hard skills in a real interview scenario including mock sessions and resume building workshops</a:t>
              </a:r>
            </a:p>
          </p:txBody>
        </p:sp>
      </p:grpSp>
      <p:grpSp>
        <p:nvGrpSpPr>
          <p:cNvPr name="Group 12" id="12"/>
          <p:cNvGrpSpPr/>
          <p:nvPr/>
        </p:nvGrpSpPr>
        <p:grpSpPr>
          <a:xfrm rot="0">
            <a:off x="9871821" y="7327091"/>
            <a:ext cx="7273795" cy="2044894"/>
            <a:chOff x="0" y="0"/>
            <a:chExt cx="9698393" cy="2726525"/>
          </a:xfrm>
        </p:grpSpPr>
        <p:sp>
          <p:nvSpPr>
            <p:cNvPr name="TextBox 13" id="13"/>
            <p:cNvSpPr txBox="true"/>
            <p:nvPr/>
          </p:nvSpPr>
          <p:spPr>
            <a:xfrm rot="0">
              <a:off x="0" y="-9525"/>
              <a:ext cx="9698393" cy="593725"/>
            </a:xfrm>
            <a:prstGeom prst="rect">
              <a:avLst/>
            </a:prstGeom>
          </p:spPr>
          <p:txBody>
            <a:bodyPr anchor="t" rtlCol="false" tIns="0" lIns="0" bIns="0" rIns="0">
              <a:spAutoFit/>
            </a:bodyPr>
            <a:lstStyle/>
            <a:p>
              <a:pPr algn="l" marL="0" indent="0" lvl="0">
                <a:lnSpc>
                  <a:spcPts val="3469"/>
                </a:lnSpc>
                <a:spcBef>
                  <a:spcPct val="0"/>
                </a:spcBef>
              </a:pPr>
              <a:r>
                <a:rPr lang="en-US" b="true" sz="2891">
                  <a:solidFill>
                    <a:srgbClr val="000000"/>
                  </a:solidFill>
                  <a:latin typeface="Inter Bold"/>
                  <a:ea typeface="Inter Bold"/>
                  <a:cs typeface="Inter Bold"/>
                  <a:sym typeface="Inter Bold"/>
                </a:rPr>
                <a:t>Indus</a:t>
              </a:r>
              <a:r>
                <a:rPr lang="en-US" b="true" sz="2891">
                  <a:solidFill>
                    <a:srgbClr val="000000"/>
                  </a:solidFill>
                  <a:latin typeface="Inter Bold"/>
                  <a:ea typeface="Inter Bold"/>
                  <a:cs typeface="Inter Bold"/>
                  <a:sym typeface="Inter Bold"/>
                </a:rPr>
                <a:t>try Relevant Projects</a:t>
              </a:r>
            </a:p>
          </p:txBody>
        </p:sp>
        <p:sp>
          <p:nvSpPr>
            <p:cNvPr name="TextBox 14" id="14"/>
            <p:cNvSpPr txBox="true"/>
            <p:nvPr/>
          </p:nvSpPr>
          <p:spPr>
            <a:xfrm rot="0">
              <a:off x="0" y="1001522"/>
              <a:ext cx="9698393" cy="1725003"/>
            </a:xfrm>
            <a:prstGeom prst="rect">
              <a:avLst/>
            </a:prstGeom>
          </p:spPr>
          <p:txBody>
            <a:bodyPr anchor="t" rtlCol="false" tIns="0" lIns="0" bIns="0" rIns="0">
              <a:spAutoFit/>
            </a:bodyPr>
            <a:lstStyle/>
            <a:p>
              <a:pPr algn="l" marL="0" indent="0" lvl="0">
                <a:lnSpc>
                  <a:spcPts val="3503"/>
                </a:lnSpc>
                <a:spcBef>
                  <a:spcPct val="0"/>
                </a:spcBef>
              </a:pPr>
              <a:r>
                <a:rPr lang="en-US" sz="2502">
                  <a:solidFill>
                    <a:srgbClr val="000000"/>
                  </a:solidFill>
                  <a:latin typeface="Open Sans 2"/>
                  <a:ea typeface="Open Sans 2"/>
                  <a:cs typeface="Open Sans 2"/>
                  <a:sym typeface="Open Sans 2"/>
                </a:rPr>
                <a:t>Gu</a:t>
              </a:r>
              <a:r>
                <a:rPr lang="en-US" sz="2502">
                  <a:solidFill>
                    <a:srgbClr val="000000"/>
                  </a:solidFill>
                  <a:latin typeface="Open Sans 2"/>
                  <a:ea typeface="Open Sans 2"/>
                  <a:cs typeface="Open Sans 2"/>
                  <a:sym typeface="Open Sans 2"/>
                </a:rPr>
                <a:t>ided project involving industry relevant problems statements, providing students with the must required processes</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9CFC2"/>
        </a:solidFill>
      </p:bgPr>
    </p:bg>
    <p:spTree>
      <p:nvGrpSpPr>
        <p:cNvPr id="1" name=""/>
        <p:cNvGrpSpPr/>
        <p:nvPr/>
      </p:nvGrpSpPr>
      <p:grpSpPr>
        <a:xfrm>
          <a:off x="0" y="0"/>
          <a:ext cx="0" cy="0"/>
          <a:chOff x="0" y="0"/>
          <a:chExt cx="0" cy="0"/>
        </a:xfrm>
      </p:grpSpPr>
      <p:grpSp>
        <p:nvGrpSpPr>
          <p:cNvPr name="Group 2" id="2"/>
          <p:cNvGrpSpPr/>
          <p:nvPr/>
        </p:nvGrpSpPr>
        <p:grpSpPr>
          <a:xfrm rot="0">
            <a:off x="12292839" y="2734953"/>
            <a:ext cx="5145691" cy="2876228"/>
            <a:chOff x="0" y="0"/>
            <a:chExt cx="6860922" cy="3834970"/>
          </a:xfrm>
        </p:grpSpPr>
        <p:pic>
          <p:nvPicPr>
            <p:cNvPr name="Picture 3" id="3"/>
            <p:cNvPicPr>
              <a:picLocks noChangeAspect="true"/>
            </p:cNvPicPr>
            <p:nvPr/>
          </p:nvPicPr>
          <p:blipFill>
            <a:blip r:embed="rId2"/>
            <a:srcRect l="0" t="4717" r="0" b="11385"/>
            <a:stretch>
              <a:fillRect/>
            </a:stretch>
          </p:blipFill>
          <p:spPr>
            <a:xfrm flipH="false" flipV="false">
              <a:off x="0" y="0"/>
              <a:ext cx="6860922" cy="3834970"/>
            </a:xfrm>
            <a:prstGeom prst="rect">
              <a:avLst/>
            </a:prstGeom>
          </p:spPr>
        </p:pic>
      </p:grpSp>
      <p:grpSp>
        <p:nvGrpSpPr>
          <p:cNvPr name="Group 4" id="4"/>
          <p:cNvGrpSpPr/>
          <p:nvPr/>
        </p:nvGrpSpPr>
        <p:grpSpPr>
          <a:xfrm rot="0">
            <a:off x="6571154" y="2734953"/>
            <a:ext cx="5145691" cy="2876228"/>
            <a:chOff x="0" y="0"/>
            <a:chExt cx="6860922" cy="3834970"/>
          </a:xfrm>
        </p:grpSpPr>
        <p:pic>
          <p:nvPicPr>
            <p:cNvPr name="Picture 5" id="5"/>
            <p:cNvPicPr>
              <a:picLocks noChangeAspect="true"/>
            </p:cNvPicPr>
            <p:nvPr/>
          </p:nvPicPr>
          <p:blipFill>
            <a:blip r:embed="rId3"/>
            <a:srcRect l="0" t="5826" r="0" b="10276"/>
            <a:stretch>
              <a:fillRect/>
            </a:stretch>
          </p:blipFill>
          <p:spPr>
            <a:xfrm flipH="false" flipV="false">
              <a:off x="0" y="0"/>
              <a:ext cx="6860922" cy="3834970"/>
            </a:xfrm>
            <a:prstGeom prst="rect">
              <a:avLst/>
            </a:prstGeom>
          </p:spPr>
        </p:pic>
      </p:grpSp>
      <p:grpSp>
        <p:nvGrpSpPr>
          <p:cNvPr name="Group 6" id="6"/>
          <p:cNvGrpSpPr/>
          <p:nvPr/>
        </p:nvGrpSpPr>
        <p:grpSpPr>
          <a:xfrm rot="0">
            <a:off x="839945" y="2734953"/>
            <a:ext cx="5145691" cy="2876228"/>
            <a:chOff x="0" y="0"/>
            <a:chExt cx="6860922" cy="3834970"/>
          </a:xfrm>
        </p:grpSpPr>
        <p:pic>
          <p:nvPicPr>
            <p:cNvPr name="Picture 7" id="7"/>
            <p:cNvPicPr>
              <a:picLocks noChangeAspect="true"/>
            </p:cNvPicPr>
            <p:nvPr/>
          </p:nvPicPr>
          <p:blipFill>
            <a:blip r:embed="rId4"/>
            <a:srcRect l="0" t="2489" r="0" b="13614"/>
            <a:stretch>
              <a:fillRect/>
            </a:stretch>
          </p:blipFill>
          <p:spPr>
            <a:xfrm flipH="false" flipV="false">
              <a:off x="0" y="0"/>
              <a:ext cx="6860922" cy="3834970"/>
            </a:xfrm>
            <a:prstGeom prst="rect">
              <a:avLst/>
            </a:prstGeom>
          </p:spPr>
        </p:pic>
      </p:grpSp>
      <p:sp>
        <p:nvSpPr>
          <p:cNvPr name="TextBox 8" id="8"/>
          <p:cNvSpPr txBox="true"/>
          <p:nvPr/>
        </p:nvSpPr>
        <p:spPr>
          <a:xfrm rot="0">
            <a:off x="839945" y="552744"/>
            <a:ext cx="8147912" cy="994410"/>
          </a:xfrm>
          <a:prstGeom prst="rect">
            <a:avLst/>
          </a:prstGeom>
        </p:spPr>
        <p:txBody>
          <a:bodyPr anchor="t" rtlCol="false" tIns="0" lIns="0" bIns="0" rIns="0">
            <a:spAutoFit/>
          </a:bodyPr>
          <a:lstStyle/>
          <a:p>
            <a:pPr algn="l">
              <a:lnSpc>
                <a:spcPts val="7560"/>
              </a:lnSpc>
            </a:pPr>
            <a:r>
              <a:rPr lang="en-US" sz="7200" b="true">
                <a:solidFill>
                  <a:srgbClr val="737373"/>
                </a:solidFill>
                <a:latin typeface="Inter Bold"/>
                <a:ea typeface="Inter Bold"/>
                <a:cs typeface="Inter Bold"/>
                <a:sym typeface="Inter Bold"/>
              </a:rPr>
              <a:t>MENTORSHIP</a:t>
            </a:r>
          </a:p>
        </p:txBody>
      </p:sp>
      <p:sp>
        <p:nvSpPr>
          <p:cNvPr name="TextBox 9" id="9"/>
          <p:cNvSpPr txBox="true"/>
          <p:nvPr/>
        </p:nvSpPr>
        <p:spPr>
          <a:xfrm rot="0">
            <a:off x="849470" y="1556679"/>
            <a:ext cx="8138387" cy="396240"/>
          </a:xfrm>
          <a:prstGeom prst="rect">
            <a:avLst/>
          </a:prstGeom>
        </p:spPr>
        <p:txBody>
          <a:bodyPr anchor="t" rtlCol="false" tIns="0" lIns="0" bIns="0" rIns="0">
            <a:spAutoFit/>
          </a:bodyPr>
          <a:lstStyle/>
          <a:p>
            <a:pPr algn="l" marL="0" indent="0" lvl="0">
              <a:lnSpc>
                <a:spcPts val="3359"/>
              </a:lnSpc>
            </a:pPr>
            <a:r>
              <a:rPr lang="en-US" b="true" sz="2400" spc="177">
                <a:solidFill>
                  <a:srgbClr val="000000"/>
                </a:solidFill>
                <a:latin typeface="Open Sans 1 Bold"/>
                <a:ea typeface="Open Sans 1 Bold"/>
                <a:cs typeface="Open Sans 1 Bold"/>
                <a:sym typeface="Open Sans 1 Bold"/>
              </a:rPr>
              <a:t>WHAT WE PROVIDE</a:t>
            </a:r>
          </a:p>
        </p:txBody>
      </p:sp>
      <p:sp>
        <p:nvSpPr>
          <p:cNvPr name="TextBox 10" id="10"/>
          <p:cNvSpPr txBox="true"/>
          <p:nvPr/>
        </p:nvSpPr>
        <p:spPr>
          <a:xfrm rot="0">
            <a:off x="849470" y="5779548"/>
            <a:ext cx="5155216" cy="464820"/>
          </a:xfrm>
          <a:prstGeom prst="rect">
            <a:avLst/>
          </a:prstGeom>
        </p:spPr>
        <p:txBody>
          <a:bodyPr anchor="t" rtlCol="false" tIns="0" lIns="0" bIns="0" rIns="0">
            <a:spAutoFit/>
          </a:bodyPr>
          <a:lstStyle/>
          <a:p>
            <a:pPr algn="l">
              <a:lnSpc>
                <a:spcPts val="3779"/>
              </a:lnSpc>
            </a:pPr>
            <a:r>
              <a:rPr lang="en-US" sz="2699" b="true">
                <a:solidFill>
                  <a:srgbClr val="188AB2"/>
                </a:solidFill>
                <a:latin typeface="Inter Bold"/>
                <a:ea typeface="Inter Bold"/>
                <a:cs typeface="Inter Bold"/>
                <a:sym typeface="Inter Bold"/>
              </a:rPr>
              <a:t>Expert Mentors</a:t>
            </a:r>
          </a:p>
        </p:txBody>
      </p:sp>
      <p:sp>
        <p:nvSpPr>
          <p:cNvPr name="TextBox 11" id="11"/>
          <p:cNvSpPr txBox="true"/>
          <p:nvPr/>
        </p:nvSpPr>
        <p:spPr>
          <a:xfrm rot="0">
            <a:off x="6571154" y="5779548"/>
            <a:ext cx="5155216" cy="464820"/>
          </a:xfrm>
          <a:prstGeom prst="rect">
            <a:avLst/>
          </a:prstGeom>
        </p:spPr>
        <p:txBody>
          <a:bodyPr anchor="t" rtlCol="false" tIns="0" lIns="0" bIns="0" rIns="0">
            <a:spAutoFit/>
          </a:bodyPr>
          <a:lstStyle/>
          <a:p>
            <a:pPr algn="l">
              <a:lnSpc>
                <a:spcPts val="3779"/>
              </a:lnSpc>
            </a:pPr>
            <a:r>
              <a:rPr lang="en-US" sz="2699" b="true">
                <a:solidFill>
                  <a:srgbClr val="188AB2"/>
                </a:solidFill>
                <a:latin typeface="Inter Bold"/>
                <a:ea typeface="Inter Bold"/>
                <a:cs typeface="Inter Bold"/>
                <a:sym typeface="Inter Bold"/>
              </a:rPr>
              <a:t>Mock and Peer Interviews</a:t>
            </a:r>
          </a:p>
        </p:txBody>
      </p:sp>
      <p:sp>
        <p:nvSpPr>
          <p:cNvPr name="TextBox 12" id="12"/>
          <p:cNvSpPr txBox="true"/>
          <p:nvPr/>
        </p:nvSpPr>
        <p:spPr>
          <a:xfrm rot="0">
            <a:off x="12283314" y="5779548"/>
            <a:ext cx="5155216" cy="464820"/>
          </a:xfrm>
          <a:prstGeom prst="rect">
            <a:avLst/>
          </a:prstGeom>
        </p:spPr>
        <p:txBody>
          <a:bodyPr anchor="t" rtlCol="false" tIns="0" lIns="0" bIns="0" rIns="0">
            <a:spAutoFit/>
          </a:bodyPr>
          <a:lstStyle/>
          <a:p>
            <a:pPr algn="l">
              <a:lnSpc>
                <a:spcPts val="3779"/>
              </a:lnSpc>
            </a:pPr>
            <a:r>
              <a:rPr lang="en-US" sz="2699" b="true">
                <a:solidFill>
                  <a:srgbClr val="188AB2"/>
                </a:solidFill>
                <a:latin typeface="Inter Bold"/>
                <a:ea typeface="Inter Bold"/>
                <a:cs typeface="Inter Bold"/>
                <a:sym typeface="Inter Bold"/>
              </a:rPr>
              <a:t>Community Led Learning</a:t>
            </a:r>
          </a:p>
        </p:txBody>
      </p:sp>
      <p:sp>
        <p:nvSpPr>
          <p:cNvPr name="TextBox 13" id="13"/>
          <p:cNvSpPr txBox="true"/>
          <p:nvPr/>
        </p:nvSpPr>
        <p:spPr>
          <a:xfrm rot="0">
            <a:off x="849829" y="6396768"/>
            <a:ext cx="4930750" cy="1264285"/>
          </a:xfrm>
          <a:prstGeom prst="rect">
            <a:avLst/>
          </a:prstGeom>
        </p:spPr>
        <p:txBody>
          <a:bodyPr anchor="t" rtlCol="false" tIns="0" lIns="0" bIns="0" rIns="0">
            <a:spAutoFit/>
          </a:bodyPr>
          <a:lstStyle/>
          <a:p>
            <a:pPr algn="just" marL="0" indent="0" lvl="0">
              <a:lnSpc>
                <a:spcPts val="3409"/>
              </a:lnSpc>
            </a:pPr>
            <a:r>
              <a:rPr lang="en-US" sz="2199">
                <a:solidFill>
                  <a:srgbClr val="000000"/>
                </a:solidFill>
                <a:latin typeface="Open Sans 1"/>
                <a:ea typeface="Open Sans 1"/>
                <a:cs typeface="Open Sans 1"/>
                <a:sym typeface="Open Sans 1"/>
              </a:rPr>
              <a:t>Expert Mentors from IIT/IIM with work experience of more than 4+ years in various domains</a:t>
            </a:r>
          </a:p>
        </p:txBody>
      </p:sp>
      <p:sp>
        <p:nvSpPr>
          <p:cNvPr name="TextBox 14" id="14"/>
          <p:cNvSpPr txBox="true"/>
          <p:nvPr/>
        </p:nvSpPr>
        <p:spPr>
          <a:xfrm rot="0">
            <a:off x="6522482" y="6396768"/>
            <a:ext cx="4930750" cy="1264285"/>
          </a:xfrm>
          <a:prstGeom prst="rect">
            <a:avLst/>
          </a:prstGeom>
        </p:spPr>
        <p:txBody>
          <a:bodyPr anchor="t" rtlCol="false" tIns="0" lIns="0" bIns="0" rIns="0">
            <a:spAutoFit/>
          </a:bodyPr>
          <a:lstStyle/>
          <a:p>
            <a:pPr algn="just" marL="0" indent="0" lvl="0">
              <a:lnSpc>
                <a:spcPts val="3409"/>
              </a:lnSpc>
            </a:pPr>
            <a:r>
              <a:rPr lang="en-US" sz="2199">
                <a:solidFill>
                  <a:srgbClr val="000000"/>
                </a:solidFill>
                <a:latin typeface="Open Sans 1"/>
                <a:ea typeface="Open Sans 1"/>
                <a:cs typeface="Open Sans 1"/>
                <a:sym typeface="Open Sans 1"/>
              </a:rPr>
              <a:t>Group mock interviews for students to get the feel of real interviews and peer interview platform for practice </a:t>
            </a:r>
          </a:p>
        </p:txBody>
      </p:sp>
      <p:sp>
        <p:nvSpPr>
          <p:cNvPr name="TextBox 15" id="15"/>
          <p:cNvSpPr txBox="true"/>
          <p:nvPr/>
        </p:nvSpPr>
        <p:spPr>
          <a:xfrm rot="0">
            <a:off x="12283314" y="6396768"/>
            <a:ext cx="4930750" cy="1692910"/>
          </a:xfrm>
          <a:prstGeom prst="rect">
            <a:avLst/>
          </a:prstGeom>
        </p:spPr>
        <p:txBody>
          <a:bodyPr anchor="t" rtlCol="false" tIns="0" lIns="0" bIns="0" rIns="0">
            <a:spAutoFit/>
          </a:bodyPr>
          <a:lstStyle/>
          <a:p>
            <a:pPr algn="l" marL="0" indent="0" lvl="0">
              <a:lnSpc>
                <a:spcPts val="3409"/>
              </a:lnSpc>
            </a:pPr>
            <a:r>
              <a:rPr lang="en-US" sz="2199">
                <a:solidFill>
                  <a:srgbClr val="000000"/>
                </a:solidFill>
                <a:latin typeface="Open Sans 1"/>
                <a:ea typeface="Open Sans 1"/>
                <a:cs typeface="Open Sans 1"/>
                <a:sym typeface="Open Sans 1"/>
              </a:rPr>
              <a:t>Community based learning where the students educate each other and learn together in a collaborative environment</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D9CFC2"/>
        </a:solidFill>
      </p:bgPr>
    </p:bg>
    <p:spTree>
      <p:nvGrpSpPr>
        <p:cNvPr id="1" name=""/>
        <p:cNvGrpSpPr/>
        <p:nvPr/>
      </p:nvGrpSpPr>
      <p:grpSpPr>
        <a:xfrm>
          <a:off x="0" y="0"/>
          <a:ext cx="0" cy="0"/>
          <a:chOff x="0" y="0"/>
          <a:chExt cx="0" cy="0"/>
        </a:xfrm>
      </p:grpSpPr>
      <p:sp>
        <p:nvSpPr>
          <p:cNvPr name="AutoShape 2" id="2"/>
          <p:cNvSpPr/>
          <p:nvPr/>
        </p:nvSpPr>
        <p:spPr>
          <a:xfrm rot="0">
            <a:off x="0" y="4610552"/>
            <a:ext cx="18288000" cy="5676448"/>
          </a:xfrm>
          <a:prstGeom prst="rect">
            <a:avLst/>
          </a:prstGeom>
          <a:solidFill>
            <a:srgbClr val="FFFFFF"/>
          </a:solidFill>
        </p:spPr>
      </p:sp>
      <p:sp>
        <p:nvSpPr>
          <p:cNvPr name="AutoShape 3" id="3"/>
          <p:cNvSpPr/>
          <p:nvPr/>
        </p:nvSpPr>
        <p:spPr>
          <a:xfrm rot="0">
            <a:off x="13137172" y="5917321"/>
            <a:ext cx="365796" cy="365796"/>
          </a:xfrm>
          <a:prstGeom prst="rect">
            <a:avLst/>
          </a:prstGeom>
          <a:solidFill>
            <a:srgbClr val="D9CFC2"/>
          </a:solidFill>
          <a:ln cap="sq">
            <a:noFill/>
            <a:prstDash val="solid"/>
            <a:miter/>
          </a:ln>
        </p:spPr>
      </p:sp>
      <p:sp>
        <p:nvSpPr>
          <p:cNvPr name="TextBox 4" id="4"/>
          <p:cNvSpPr txBox="true"/>
          <p:nvPr/>
        </p:nvSpPr>
        <p:spPr>
          <a:xfrm rot="0">
            <a:off x="1028700" y="1304925"/>
            <a:ext cx="13938538" cy="2114550"/>
          </a:xfrm>
          <a:prstGeom prst="rect">
            <a:avLst/>
          </a:prstGeom>
        </p:spPr>
        <p:txBody>
          <a:bodyPr anchor="t" rtlCol="false" tIns="0" lIns="0" bIns="0" rIns="0">
            <a:spAutoFit/>
          </a:bodyPr>
          <a:lstStyle/>
          <a:p>
            <a:pPr algn="l" marL="0" indent="0" lvl="0">
              <a:lnSpc>
                <a:spcPts val="8399"/>
              </a:lnSpc>
            </a:pPr>
            <a:r>
              <a:rPr lang="en-US" b="true" sz="6999">
                <a:solidFill>
                  <a:srgbClr val="000000"/>
                </a:solidFill>
                <a:latin typeface="Inter Bold"/>
                <a:ea typeface="Inter Bold"/>
                <a:cs typeface="Inter Bold"/>
                <a:sym typeface="Inter Bold"/>
              </a:rPr>
              <a:t>KEY BENEFITS OF TRAINING WITH STEPSMART</a:t>
            </a:r>
          </a:p>
        </p:txBody>
      </p:sp>
      <p:grpSp>
        <p:nvGrpSpPr>
          <p:cNvPr name="Group 5" id="5"/>
          <p:cNvGrpSpPr/>
          <p:nvPr/>
        </p:nvGrpSpPr>
        <p:grpSpPr>
          <a:xfrm rot="0">
            <a:off x="1028700" y="6801231"/>
            <a:ext cx="4584125" cy="2253173"/>
            <a:chOff x="0" y="0"/>
            <a:chExt cx="6112166" cy="3004231"/>
          </a:xfrm>
        </p:grpSpPr>
        <p:sp>
          <p:nvSpPr>
            <p:cNvPr name="TextBox 6" id="6"/>
            <p:cNvSpPr txBox="true"/>
            <p:nvPr/>
          </p:nvSpPr>
          <p:spPr>
            <a:xfrm rot="0">
              <a:off x="0" y="-9525"/>
              <a:ext cx="6112166" cy="504825"/>
            </a:xfrm>
            <a:prstGeom prst="rect">
              <a:avLst/>
            </a:prstGeom>
          </p:spPr>
          <p:txBody>
            <a:bodyPr anchor="t" rtlCol="false" tIns="0" lIns="0" bIns="0" rIns="0">
              <a:spAutoFit/>
            </a:bodyPr>
            <a:lstStyle/>
            <a:p>
              <a:pPr algn="l" marL="0" indent="0" lvl="0">
                <a:lnSpc>
                  <a:spcPts val="2989"/>
                </a:lnSpc>
                <a:spcBef>
                  <a:spcPct val="0"/>
                </a:spcBef>
              </a:pPr>
              <a:r>
                <a:rPr lang="en-US" b="true" sz="2491">
                  <a:solidFill>
                    <a:srgbClr val="000000"/>
                  </a:solidFill>
                  <a:latin typeface="Inter Bold"/>
                  <a:ea typeface="Inter Bold"/>
                  <a:cs typeface="Inter Bold"/>
                  <a:sym typeface="Inter Bold"/>
                </a:rPr>
                <a:t>Personalized Guidance</a:t>
              </a:r>
            </a:p>
          </p:txBody>
        </p:sp>
        <p:sp>
          <p:nvSpPr>
            <p:cNvPr name="TextBox 7" id="7"/>
            <p:cNvSpPr txBox="true"/>
            <p:nvPr/>
          </p:nvSpPr>
          <p:spPr>
            <a:xfrm rot="0">
              <a:off x="0" y="941197"/>
              <a:ext cx="6112166" cy="2063034"/>
            </a:xfrm>
            <a:prstGeom prst="rect">
              <a:avLst/>
            </a:prstGeom>
          </p:spPr>
          <p:txBody>
            <a:bodyPr anchor="t" rtlCol="false" tIns="0" lIns="0" bIns="0" rIns="0">
              <a:spAutoFit/>
            </a:bodyPr>
            <a:lstStyle/>
            <a:p>
              <a:pPr algn="l" marL="0" indent="0" lvl="0">
                <a:lnSpc>
                  <a:spcPts val="2523"/>
                </a:lnSpc>
                <a:spcBef>
                  <a:spcPct val="0"/>
                </a:spcBef>
              </a:pPr>
              <a:r>
                <a:rPr lang="en-US" sz="1802">
                  <a:solidFill>
                    <a:srgbClr val="000000"/>
                  </a:solidFill>
                  <a:latin typeface="Open Sans 2"/>
                  <a:ea typeface="Open Sans 2"/>
                  <a:cs typeface="Open Sans 2"/>
                  <a:sym typeface="Open Sans 2"/>
                </a:rPr>
                <a:t>StepSmart offers tailored support to every participant, ensuring that your unique learning needs are met and guiding you toward achieving your personal and professional goals.</a:t>
              </a:r>
            </a:p>
          </p:txBody>
        </p:sp>
      </p:grpSp>
      <p:grpSp>
        <p:nvGrpSpPr>
          <p:cNvPr name="Group 8" id="8"/>
          <p:cNvGrpSpPr/>
          <p:nvPr/>
        </p:nvGrpSpPr>
        <p:grpSpPr>
          <a:xfrm rot="0">
            <a:off x="6851938" y="6801231"/>
            <a:ext cx="4584125" cy="2253173"/>
            <a:chOff x="0" y="0"/>
            <a:chExt cx="6112166" cy="3004231"/>
          </a:xfrm>
        </p:grpSpPr>
        <p:sp>
          <p:nvSpPr>
            <p:cNvPr name="TextBox 9" id="9"/>
            <p:cNvSpPr txBox="true"/>
            <p:nvPr/>
          </p:nvSpPr>
          <p:spPr>
            <a:xfrm rot="0">
              <a:off x="0" y="-9525"/>
              <a:ext cx="6112166" cy="504825"/>
            </a:xfrm>
            <a:prstGeom prst="rect">
              <a:avLst/>
            </a:prstGeom>
          </p:spPr>
          <p:txBody>
            <a:bodyPr anchor="t" rtlCol="false" tIns="0" lIns="0" bIns="0" rIns="0">
              <a:spAutoFit/>
            </a:bodyPr>
            <a:lstStyle/>
            <a:p>
              <a:pPr algn="l" marL="0" indent="0" lvl="0">
                <a:lnSpc>
                  <a:spcPts val="2989"/>
                </a:lnSpc>
                <a:spcBef>
                  <a:spcPct val="0"/>
                </a:spcBef>
              </a:pPr>
              <a:r>
                <a:rPr lang="en-US" b="true" sz="2491">
                  <a:solidFill>
                    <a:srgbClr val="000000"/>
                  </a:solidFill>
                  <a:latin typeface="Inter Bold"/>
                  <a:ea typeface="Inter Bold"/>
                  <a:cs typeface="Inter Bold"/>
                  <a:sym typeface="Inter Bold"/>
                </a:rPr>
                <a:t>Flexible Scheduling</a:t>
              </a:r>
            </a:p>
          </p:txBody>
        </p:sp>
        <p:sp>
          <p:nvSpPr>
            <p:cNvPr name="TextBox 10" id="10"/>
            <p:cNvSpPr txBox="true"/>
            <p:nvPr/>
          </p:nvSpPr>
          <p:spPr>
            <a:xfrm rot="0">
              <a:off x="0" y="941197"/>
              <a:ext cx="6112166" cy="2063034"/>
            </a:xfrm>
            <a:prstGeom prst="rect">
              <a:avLst/>
            </a:prstGeom>
          </p:spPr>
          <p:txBody>
            <a:bodyPr anchor="t" rtlCol="false" tIns="0" lIns="0" bIns="0" rIns="0">
              <a:spAutoFit/>
            </a:bodyPr>
            <a:lstStyle/>
            <a:p>
              <a:pPr algn="l" marL="0" indent="0" lvl="0">
                <a:lnSpc>
                  <a:spcPts val="2523"/>
                </a:lnSpc>
                <a:spcBef>
                  <a:spcPct val="0"/>
                </a:spcBef>
              </a:pPr>
              <a:r>
                <a:rPr lang="en-US" sz="1802">
                  <a:solidFill>
                    <a:srgbClr val="000000"/>
                  </a:solidFill>
                  <a:latin typeface="Open Sans 2"/>
                  <a:ea typeface="Open Sans 2"/>
                  <a:cs typeface="Open Sans 2"/>
                  <a:sym typeface="Open Sans 2"/>
                </a:rPr>
                <a:t>With StepSmart's adaptable training programs, you can choose a schedule that fits your busy life, allowing you to learn at your own pace without compromising other commitments.</a:t>
              </a:r>
            </a:p>
          </p:txBody>
        </p:sp>
      </p:grpSp>
      <p:grpSp>
        <p:nvGrpSpPr>
          <p:cNvPr name="Group 11" id="11"/>
          <p:cNvGrpSpPr/>
          <p:nvPr/>
        </p:nvGrpSpPr>
        <p:grpSpPr>
          <a:xfrm rot="0">
            <a:off x="12675175" y="6801231"/>
            <a:ext cx="4584125" cy="2253173"/>
            <a:chOff x="0" y="0"/>
            <a:chExt cx="6112166" cy="3004231"/>
          </a:xfrm>
        </p:grpSpPr>
        <p:sp>
          <p:nvSpPr>
            <p:cNvPr name="TextBox 12" id="12"/>
            <p:cNvSpPr txBox="true"/>
            <p:nvPr/>
          </p:nvSpPr>
          <p:spPr>
            <a:xfrm rot="0">
              <a:off x="0" y="-9525"/>
              <a:ext cx="6112166" cy="504825"/>
            </a:xfrm>
            <a:prstGeom prst="rect">
              <a:avLst/>
            </a:prstGeom>
          </p:spPr>
          <p:txBody>
            <a:bodyPr anchor="t" rtlCol="false" tIns="0" lIns="0" bIns="0" rIns="0">
              <a:spAutoFit/>
            </a:bodyPr>
            <a:lstStyle/>
            <a:p>
              <a:pPr algn="l" marL="0" indent="0" lvl="0">
                <a:lnSpc>
                  <a:spcPts val="2989"/>
                </a:lnSpc>
                <a:spcBef>
                  <a:spcPct val="0"/>
                </a:spcBef>
              </a:pPr>
              <a:r>
                <a:rPr lang="en-US" b="true" sz="2491">
                  <a:solidFill>
                    <a:srgbClr val="000000"/>
                  </a:solidFill>
                  <a:latin typeface="Inter Bold"/>
                  <a:ea typeface="Inter Bold"/>
                  <a:cs typeface="Inter Bold"/>
                  <a:sym typeface="Inter Bold"/>
                </a:rPr>
                <a:t>Networking Opportunities</a:t>
              </a:r>
            </a:p>
          </p:txBody>
        </p:sp>
        <p:sp>
          <p:nvSpPr>
            <p:cNvPr name="TextBox 13" id="13"/>
            <p:cNvSpPr txBox="true"/>
            <p:nvPr/>
          </p:nvSpPr>
          <p:spPr>
            <a:xfrm rot="0">
              <a:off x="0" y="941197"/>
              <a:ext cx="6112166" cy="2063034"/>
            </a:xfrm>
            <a:prstGeom prst="rect">
              <a:avLst/>
            </a:prstGeom>
          </p:spPr>
          <p:txBody>
            <a:bodyPr anchor="t" rtlCol="false" tIns="0" lIns="0" bIns="0" rIns="0">
              <a:spAutoFit/>
            </a:bodyPr>
            <a:lstStyle/>
            <a:p>
              <a:pPr algn="l" marL="0" indent="0" lvl="0">
                <a:lnSpc>
                  <a:spcPts val="2523"/>
                </a:lnSpc>
                <a:spcBef>
                  <a:spcPct val="0"/>
                </a:spcBef>
              </a:pPr>
              <a:r>
                <a:rPr lang="en-US" sz="1802">
                  <a:solidFill>
                    <a:srgbClr val="000000"/>
                  </a:solidFill>
                  <a:latin typeface="Open Sans 2"/>
                  <a:ea typeface="Open Sans 2"/>
                  <a:cs typeface="Open Sans 2"/>
                  <a:sym typeface="Open Sans 2"/>
                </a:rPr>
                <a:t>Engaging with peers and industry professionals through StepSmart provides valuable connections that can enhance your career prospects and open doors for collaboration in the future.</a:t>
              </a:r>
            </a:p>
          </p:txBody>
        </p:sp>
      </p:grpSp>
      <p:sp>
        <p:nvSpPr>
          <p:cNvPr name="AutoShape 14" id="14"/>
          <p:cNvSpPr/>
          <p:nvPr/>
        </p:nvSpPr>
        <p:spPr>
          <a:xfrm rot="0">
            <a:off x="12716632" y="5917321"/>
            <a:ext cx="430066" cy="365796"/>
          </a:xfrm>
          <a:prstGeom prst="rect">
            <a:avLst/>
          </a:prstGeom>
          <a:solidFill>
            <a:srgbClr val="D9CFC2"/>
          </a:solidFill>
          <a:ln cap="sq">
            <a:noFill/>
            <a:prstDash val="solid"/>
            <a:miter/>
          </a:ln>
        </p:spPr>
      </p:sp>
      <p:sp>
        <p:nvSpPr>
          <p:cNvPr name="AutoShape 15" id="15"/>
          <p:cNvSpPr/>
          <p:nvPr/>
        </p:nvSpPr>
        <p:spPr>
          <a:xfrm rot="0">
            <a:off x="1028700" y="5917321"/>
            <a:ext cx="731591" cy="365796"/>
          </a:xfrm>
          <a:prstGeom prst="rect">
            <a:avLst/>
          </a:prstGeom>
          <a:solidFill>
            <a:srgbClr val="188AB2"/>
          </a:solidFill>
        </p:spPr>
      </p:sp>
      <p:sp>
        <p:nvSpPr>
          <p:cNvPr name="AutoShape 16" id="16"/>
          <p:cNvSpPr/>
          <p:nvPr/>
        </p:nvSpPr>
        <p:spPr>
          <a:xfrm rot="0">
            <a:off x="7208208" y="5917321"/>
            <a:ext cx="736684" cy="365796"/>
          </a:xfrm>
          <a:prstGeom prst="rect">
            <a:avLst/>
          </a:prstGeom>
          <a:solidFill>
            <a:srgbClr val="188AB2"/>
          </a:solidFill>
        </p:spPr>
      </p:sp>
      <p:sp>
        <p:nvSpPr>
          <p:cNvPr name="AutoShape 17" id="17"/>
          <p:cNvSpPr/>
          <p:nvPr/>
        </p:nvSpPr>
        <p:spPr>
          <a:xfrm rot="0">
            <a:off x="7579097" y="5570575"/>
            <a:ext cx="365796" cy="365796"/>
          </a:xfrm>
          <a:prstGeom prst="rect">
            <a:avLst/>
          </a:prstGeom>
          <a:solidFill>
            <a:srgbClr val="188AB2"/>
          </a:solidFill>
        </p:spPr>
      </p:sp>
      <p:sp>
        <p:nvSpPr>
          <p:cNvPr name="AutoShape 18" id="18"/>
          <p:cNvSpPr/>
          <p:nvPr/>
        </p:nvSpPr>
        <p:spPr>
          <a:xfrm rot="0">
            <a:off x="6851938" y="5917321"/>
            <a:ext cx="365796" cy="365796"/>
          </a:xfrm>
          <a:prstGeom prst="rect">
            <a:avLst/>
          </a:prstGeom>
          <a:solidFill>
            <a:srgbClr val="D9CFC2"/>
          </a:solidFill>
        </p:spPr>
      </p:sp>
      <p:sp>
        <p:nvSpPr>
          <p:cNvPr name="AutoShape 19" id="19"/>
          <p:cNvSpPr/>
          <p:nvPr/>
        </p:nvSpPr>
        <p:spPr>
          <a:xfrm rot="0">
            <a:off x="13483918" y="5917321"/>
            <a:ext cx="731591" cy="365796"/>
          </a:xfrm>
          <a:prstGeom prst="rect">
            <a:avLst/>
          </a:prstGeom>
          <a:solidFill>
            <a:srgbClr val="188AB2"/>
          </a:solidFill>
          <a:ln cap="sq">
            <a:noFill/>
            <a:prstDash val="solid"/>
            <a:miter/>
          </a:ln>
        </p:spPr>
      </p:sp>
      <p:sp>
        <p:nvSpPr>
          <p:cNvPr name="AutoShape 20" id="20"/>
          <p:cNvSpPr/>
          <p:nvPr/>
        </p:nvSpPr>
        <p:spPr>
          <a:xfrm rot="0">
            <a:off x="12716632" y="5551525"/>
            <a:ext cx="430066" cy="365796"/>
          </a:xfrm>
          <a:prstGeom prst="rect">
            <a:avLst/>
          </a:prstGeom>
          <a:solidFill>
            <a:srgbClr val="188AB2"/>
          </a:solidFill>
        </p:spPr>
      </p:sp>
      <p:sp>
        <p:nvSpPr>
          <p:cNvPr name="AutoShape 21" id="21"/>
          <p:cNvSpPr/>
          <p:nvPr/>
        </p:nvSpPr>
        <p:spPr>
          <a:xfrm rot="-5400000">
            <a:off x="16572361" y="2886662"/>
            <a:ext cx="575318" cy="571192"/>
          </a:xfrm>
          <a:prstGeom prst="rect">
            <a:avLst/>
          </a:prstGeom>
          <a:solidFill>
            <a:srgbClr val="188AB2"/>
          </a:solidFill>
        </p:spPr>
      </p:sp>
      <p:sp>
        <p:nvSpPr>
          <p:cNvPr name="AutoShape 22" id="22"/>
          <p:cNvSpPr/>
          <p:nvPr/>
        </p:nvSpPr>
        <p:spPr>
          <a:xfrm rot="-5400000">
            <a:off x="16855894" y="3749638"/>
            <a:ext cx="1150635" cy="571192"/>
          </a:xfrm>
          <a:prstGeom prst="rect">
            <a:avLst/>
          </a:prstGeom>
          <a:solidFill>
            <a:srgbClr val="188AB2"/>
          </a:solid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36400" y="5442196"/>
            <a:ext cx="3867640" cy="3558229"/>
          </a:xfrm>
          <a:custGeom>
            <a:avLst/>
            <a:gdLst/>
            <a:ahLst/>
            <a:cxnLst/>
            <a:rect r="r" b="b" t="t" l="l"/>
            <a:pathLst>
              <a:path h="3558229" w="3867640">
                <a:moveTo>
                  <a:pt x="0" y="0"/>
                </a:moveTo>
                <a:lnTo>
                  <a:pt x="3867640" y="0"/>
                </a:lnTo>
                <a:lnTo>
                  <a:pt x="3867640" y="3558229"/>
                </a:lnTo>
                <a:lnTo>
                  <a:pt x="0" y="35582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33290">
            <a:off x="8857947" y="2202561"/>
            <a:ext cx="3853511" cy="3545230"/>
          </a:xfrm>
          <a:custGeom>
            <a:avLst/>
            <a:gdLst/>
            <a:ahLst/>
            <a:cxnLst/>
            <a:rect r="r" b="b" t="t" l="l"/>
            <a:pathLst>
              <a:path h="3545230" w="3853511">
                <a:moveTo>
                  <a:pt x="0" y="0"/>
                </a:moveTo>
                <a:lnTo>
                  <a:pt x="3853511" y="0"/>
                </a:lnTo>
                <a:lnTo>
                  <a:pt x="3853511" y="3545230"/>
                </a:lnTo>
                <a:lnTo>
                  <a:pt x="0" y="35452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003435" y="5508452"/>
            <a:ext cx="3795623" cy="3491973"/>
          </a:xfrm>
          <a:custGeom>
            <a:avLst/>
            <a:gdLst/>
            <a:ahLst/>
            <a:cxnLst/>
            <a:rect r="r" b="b" t="t" l="l"/>
            <a:pathLst>
              <a:path h="3491973" w="3795623">
                <a:moveTo>
                  <a:pt x="0" y="0"/>
                </a:moveTo>
                <a:lnTo>
                  <a:pt x="3795623" y="0"/>
                </a:lnTo>
                <a:lnTo>
                  <a:pt x="3795623" y="3491973"/>
                </a:lnTo>
                <a:lnTo>
                  <a:pt x="0" y="3491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13426" y="1972880"/>
            <a:ext cx="973755" cy="990545"/>
            <a:chOff x="0" y="0"/>
            <a:chExt cx="812800" cy="826814"/>
          </a:xfrm>
        </p:grpSpPr>
        <p:sp>
          <p:nvSpPr>
            <p:cNvPr name="Freeform 6" id="6"/>
            <p:cNvSpPr/>
            <p:nvPr/>
          </p:nvSpPr>
          <p:spPr>
            <a:xfrm flipH="false" flipV="false" rot="0">
              <a:off x="0" y="0"/>
              <a:ext cx="812800" cy="826814"/>
            </a:xfrm>
            <a:custGeom>
              <a:avLst/>
              <a:gdLst/>
              <a:ahLst/>
              <a:cxnLst/>
              <a:rect r="r" b="b" t="t" l="l"/>
              <a:pathLst>
                <a:path h="826814" w="812800">
                  <a:moveTo>
                    <a:pt x="406400" y="0"/>
                  </a:moveTo>
                  <a:cubicBezTo>
                    <a:pt x="181951" y="0"/>
                    <a:pt x="0" y="185089"/>
                    <a:pt x="0" y="413407"/>
                  </a:cubicBezTo>
                  <a:cubicBezTo>
                    <a:pt x="0" y="641726"/>
                    <a:pt x="181951" y="826814"/>
                    <a:pt x="406400" y="826814"/>
                  </a:cubicBezTo>
                  <a:cubicBezTo>
                    <a:pt x="630849" y="826814"/>
                    <a:pt x="812800" y="641726"/>
                    <a:pt x="812800" y="413407"/>
                  </a:cubicBezTo>
                  <a:cubicBezTo>
                    <a:pt x="812800" y="185089"/>
                    <a:pt x="630849" y="0"/>
                    <a:pt x="406400" y="0"/>
                  </a:cubicBezTo>
                  <a:close/>
                </a:path>
              </a:pathLst>
            </a:custGeom>
            <a:solidFill>
              <a:srgbClr val="EAE4D2"/>
            </a:solidFill>
          </p:spPr>
        </p:sp>
        <p:sp>
          <p:nvSpPr>
            <p:cNvPr name="TextBox 7" id="7"/>
            <p:cNvSpPr txBox="true"/>
            <p:nvPr/>
          </p:nvSpPr>
          <p:spPr>
            <a:xfrm>
              <a:off x="76200" y="1314"/>
              <a:ext cx="660400" cy="747987"/>
            </a:xfrm>
            <a:prstGeom prst="rect">
              <a:avLst/>
            </a:prstGeom>
          </p:spPr>
          <p:txBody>
            <a:bodyPr anchor="ctr" rtlCol="false" tIns="44470" lIns="44470" bIns="44470" rIns="44470"/>
            <a:lstStyle/>
            <a:p>
              <a:pPr algn="ctr">
                <a:lnSpc>
                  <a:spcPts val="4759"/>
                </a:lnSpc>
              </a:pPr>
              <a:r>
                <a:rPr lang="en-US" b="true" sz="3399">
                  <a:solidFill>
                    <a:srgbClr val="188AB2"/>
                  </a:solidFill>
                  <a:latin typeface="Inter Bold"/>
                  <a:ea typeface="Inter Bold"/>
                  <a:cs typeface="Inter Bold"/>
                  <a:sym typeface="Inter Bold"/>
                </a:rPr>
                <a:t>01</a:t>
              </a:r>
            </a:p>
          </p:txBody>
        </p:sp>
      </p:grpSp>
      <p:grpSp>
        <p:nvGrpSpPr>
          <p:cNvPr name="Group 8" id="8"/>
          <p:cNvGrpSpPr/>
          <p:nvPr/>
        </p:nvGrpSpPr>
        <p:grpSpPr>
          <a:xfrm rot="0">
            <a:off x="3865960" y="7813980"/>
            <a:ext cx="973755" cy="990545"/>
            <a:chOff x="0" y="0"/>
            <a:chExt cx="812800" cy="826814"/>
          </a:xfrm>
        </p:grpSpPr>
        <p:sp>
          <p:nvSpPr>
            <p:cNvPr name="Freeform 9" id="9"/>
            <p:cNvSpPr/>
            <p:nvPr/>
          </p:nvSpPr>
          <p:spPr>
            <a:xfrm flipH="false" flipV="false" rot="0">
              <a:off x="0" y="0"/>
              <a:ext cx="812800" cy="826814"/>
            </a:xfrm>
            <a:custGeom>
              <a:avLst/>
              <a:gdLst/>
              <a:ahLst/>
              <a:cxnLst/>
              <a:rect r="r" b="b" t="t" l="l"/>
              <a:pathLst>
                <a:path h="826814" w="812800">
                  <a:moveTo>
                    <a:pt x="406400" y="0"/>
                  </a:moveTo>
                  <a:cubicBezTo>
                    <a:pt x="181951" y="0"/>
                    <a:pt x="0" y="185089"/>
                    <a:pt x="0" y="413407"/>
                  </a:cubicBezTo>
                  <a:cubicBezTo>
                    <a:pt x="0" y="641726"/>
                    <a:pt x="181951" y="826814"/>
                    <a:pt x="406400" y="826814"/>
                  </a:cubicBezTo>
                  <a:cubicBezTo>
                    <a:pt x="630849" y="826814"/>
                    <a:pt x="812800" y="641726"/>
                    <a:pt x="812800" y="413407"/>
                  </a:cubicBezTo>
                  <a:cubicBezTo>
                    <a:pt x="812800" y="185089"/>
                    <a:pt x="630849" y="0"/>
                    <a:pt x="406400" y="0"/>
                  </a:cubicBezTo>
                  <a:close/>
                </a:path>
              </a:pathLst>
            </a:custGeom>
            <a:solidFill>
              <a:srgbClr val="EAE4D2"/>
            </a:solidFill>
          </p:spPr>
        </p:sp>
        <p:sp>
          <p:nvSpPr>
            <p:cNvPr name="TextBox 10" id="10"/>
            <p:cNvSpPr txBox="true"/>
            <p:nvPr/>
          </p:nvSpPr>
          <p:spPr>
            <a:xfrm>
              <a:off x="76200" y="1314"/>
              <a:ext cx="660400" cy="747987"/>
            </a:xfrm>
            <a:prstGeom prst="rect">
              <a:avLst/>
            </a:prstGeom>
          </p:spPr>
          <p:txBody>
            <a:bodyPr anchor="ctr" rtlCol="false" tIns="44470" lIns="44470" bIns="44470" rIns="44470"/>
            <a:lstStyle/>
            <a:p>
              <a:pPr algn="ctr">
                <a:lnSpc>
                  <a:spcPts val="4759"/>
                </a:lnSpc>
              </a:pPr>
              <a:r>
                <a:rPr lang="en-US" b="true" sz="3399">
                  <a:solidFill>
                    <a:srgbClr val="188AB2"/>
                  </a:solidFill>
                  <a:latin typeface="Inter Bold"/>
                  <a:ea typeface="Inter Bold"/>
                  <a:cs typeface="Inter Bold"/>
                  <a:sym typeface="Inter Bold"/>
                </a:rPr>
                <a:t>02</a:t>
              </a:r>
            </a:p>
          </p:txBody>
        </p:sp>
      </p:grpSp>
      <p:grpSp>
        <p:nvGrpSpPr>
          <p:cNvPr name="Group 11" id="11"/>
          <p:cNvGrpSpPr/>
          <p:nvPr/>
        </p:nvGrpSpPr>
        <p:grpSpPr>
          <a:xfrm rot="0">
            <a:off x="7009906" y="1972880"/>
            <a:ext cx="973755" cy="990545"/>
            <a:chOff x="0" y="0"/>
            <a:chExt cx="812800" cy="826814"/>
          </a:xfrm>
        </p:grpSpPr>
        <p:sp>
          <p:nvSpPr>
            <p:cNvPr name="Freeform 12" id="12"/>
            <p:cNvSpPr/>
            <p:nvPr/>
          </p:nvSpPr>
          <p:spPr>
            <a:xfrm flipH="false" flipV="false" rot="0">
              <a:off x="0" y="0"/>
              <a:ext cx="812800" cy="826814"/>
            </a:xfrm>
            <a:custGeom>
              <a:avLst/>
              <a:gdLst/>
              <a:ahLst/>
              <a:cxnLst/>
              <a:rect r="r" b="b" t="t" l="l"/>
              <a:pathLst>
                <a:path h="826814" w="812800">
                  <a:moveTo>
                    <a:pt x="406400" y="0"/>
                  </a:moveTo>
                  <a:cubicBezTo>
                    <a:pt x="181951" y="0"/>
                    <a:pt x="0" y="185089"/>
                    <a:pt x="0" y="413407"/>
                  </a:cubicBezTo>
                  <a:cubicBezTo>
                    <a:pt x="0" y="641726"/>
                    <a:pt x="181951" y="826814"/>
                    <a:pt x="406400" y="826814"/>
                  </a:cubicBezTo>
                  <a:cubicBezTo>
                    <a:pt x="630849" y="826814"/>
                    <a:pt x="812800" y="641726"/>
                    <a:pt x="812800" y="413407"/>
                  </a:cubicBezTo>
                  <a:cubicBezTo>
                    <a:pt x="812800" y="185089"/>
                    <a:pt x="630849" y="0"/>
                    <a:pt x="406400" y="0"/>
                  </a:cubicBezTo>
                  <a:close/>
                </a:path>
              </a:pathLst>
            </a:custGeom>
            <a:solidFill>
              <a:srgbClr val="EAE4D2"/>
            </a:solidFill>
          </p:spPr>
        </p:sp>
        <p:sp>
          <p:nvSpPr>
            <p:cNvPr name="TextBox 13" id="13"/>
            <p:cNvSpPr txBox="true"/>
            <p:nvPr/>
          </p:nvSpPr>
          <p:spPr>
            <a:xfrm>
              <a:off x="76200" y="1314"/>
              <a:ext cx="660400" cy="747987"/>
            </a:xfrm>
            <a:prstGeom prst="rect">
              <a:avLst/>
            </a:prstGeom>
          </p:spPr>
          <p:txBody>
            <a:bodyPr anchor="ctr" rtlCol="false" tIns="44470" lIns="44470" bIns="44470" rIns="44470"/>
            <a:lstStyle/>
            <a:p>
              <a:pPr algn="ctr">
                <a:lnSpc>
                  <a:spcPts val="4759"/>
                </a:lnSpc>
              </a:pPr>
              <a:r>
                <a:rPr lang="en-US" b="true" sz="3399">
                  <a:solidFill>
                    <a:srgbClr val="188AB2"/>
                  </a:solidFill>
                  <a:latin typeface="Inter Bold"/>
                  <a:ea typeface="Inter Bold"/>
                  <a:cs typeface="Inter Bold"/>
                  <a:sym typeface="Inter Bold"/>
                </a:rPr>
                <a:t>03</a:t>
              </a:r>
            </a:p>
          </p:txBody>
        </p:sp>
      </p:grpSp>
      <p:grpSp>
        <p:nvGrpSpPr>
          <p:cNvPr name="Group 14" id="14"/>
          <p:cNvGrpSpPr/>
          <p:nvPr/>
        </p:nvGrpSpPr>
        <p:grpSpPr>
          <a:xfrm rot="0">
            <a:off x="10167959" y="7813980"/>
            <a:ext cx="973755" cy="990545"/>
            <a:chOff x="0" y="0"/>
            <a:chExt cx="812800" cy="826814"/>
          </a:xfrm>
        </p:grpSpPr>
        <p:sp>
          <p:nvSpPr>
            <p:cNvPr name="Freeform 15" id="15"/>
            <p:cNvSpPr/>
            <p:nvPr/>
          </p:nvSpPr>
          <p:spPr>
            <a:xfrm flipH="false" flipV="false" rot="0">
              <a:off x="0" y="0"/>
              <a:ext cx="812800" cy="826814"/>
            </a:xfrm>
            <a:custGeom>
              <a:avLst/>
              <a:gdLst/>
              <a:ahLst/>
              <a:cxnLst/>
              <a:rect r="r" b="b" t="t" l="l"/>
              <a:pathLst>
                <a:path h="826814" w="812800">
                  <a:moveTo>
                    <a:pt x="406400" y="0"/>
                  </a:moveTo>
                  <a:cubicBezTo>
                    <a:pt x="181951" y="0"/>
                    <a:pt x="0" y="185089"/>
                    <a:pt x="0" y="413407"/>
                  </a:cubicBezTo>
                  <a:cubicBezTo>
                    <a:pt x="0" y="641726"/>
                    <a:pt x="181951" y="826814"/>
                    <a:pt x="406400" y="826814"/>
                  </a:cubicBezTo>
                  <a:cubicBezTo>
                    <a:pt x="630849" y="826814"/>
                    <a:pt x="812800" y="641726"/>
                    <a:pt x="812800" y="413407"/>
                  </a:cubicBezTo>
                  <a:cubicBezTo>
                    <a:pt x="812800" y="185089"/>
                    <a:pt x="630849" y="0"/>
                    <a:pt x="406400" y="0"/>
                  </a:cubicBezTo>
                  <a:close/>
                </a:path>
              </a:pathLst>
            </a:custGeom>
            <a:solidFill>
              <a:srgbClr val="EAE4D2"/>
            </a:solidFill>
          </p:spPr>
        </p:sp>
        <p:sp>
          <p:nvSpPr>
            <p:cNvPr name="TextBox 16" id="16"/>
            <p:cNvSpPr txBox="true"/>
            <p:nvPr/>
          </p:nvSpPr>
          <p:spPr>
            <a:xfrm>
              <a:off x="76200" y="1314"/>
              <a:ext cx="660400" cy="747987"/>
            </a:xfrm>
            <a:prstGeom prst="rect">
              <a:avLst/>
            </a:prstGeom>
          </p:spPr>
          <p:txBody>
            <a:bodyPr anchor="ctr" rtlCol="false" tIns="44470" lIns="44470" bIns="44470" rIns="44470"/>
            <a:lstStyle/>
            <a:p>
              <a:pPr algn="ctr">
                <a:lnSpc>
                  <a:spcPts val="4759"/>
                </a:lnSpc>
              </a:pPr>
              <a:r>
                <a:rPr lang="en-US" b="true" sz="3399">
                  <a:solidFill>
                    <a:srgbClr val="188AB2"/>
                  </a:solidFill>
                  <a:latin typeface="Inter Bold"/>
                  <a:ea typeface="Inter Bold"/>
                  <a:cs typeface="Inter Bold"/>
                  <a:sym typeface="Inter Bold"/>
                </a:rPr>
                <a:t>04</a:t>
              </a:r>
            </a:p>
          </p:txBody>
        </p:sp>
      </p:grpSp>
      <p:sp>
        <p:nvSpPr>
          <p:cNvPr name="Freeform 17" id="17"/>
          <p:cNvSpPr/>
          <p:nvPr/>
        </p:nvSpPr>
        <p:spPr>
          <a:xfrm flipH="false" flipV="false" rot="-10733290">
            <a:off x="2517163" y="2202154"/>
            <a:ext cx="3811121" cy="3506231"/>
          </a:xfrm>
          <a:custGeom>
            <a:avLst/>
            <a:gdLst/>
            <a:ahLst/>
            <a:cxnLst/>
            <a:rect r="r" b="b" t="t" l="l"/>
            <a:pathLst>
              <a:path h="3506231" w="3811121">
                <a:moveTo>
                  <a:pt x="0" y="0"/>
                </a:moveTo>
                <a:lnTo>
                  <a:pt x="3811121" y="0"/>
                </a:lnTo>
                <a:lnTo>
                  <a:pt x="3811121" y="3506231"/>
                </a:lnTo>
                <a:lnTo>
                  <a:pt x="0" y="3506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187057" y="3363475"/>
            <a:ext cx="2226494" cy="4132168"/>
            <a:chOff x="0" y="0"/>
            <a:chExt cx="586402" cy="1088308"/>
          </a:xfrm>
        </p:grpSpPr>
        <p:sp>
          <p:nvSpPr>
            <p:cNvPr name="Freeform 19" id="19"/>
            <p:cNvSpPr/>
            <p:nvPr/>
          </p:nvSpPr>
          <p:spPr>
            <a:xfrm flipH="false" flipV="false" rot="0">
              <a:off x="0" y="0"/>
              <a:ext cx="586402" cy="1088308"/>
            </a:xfrm>
            <a:custGeom>
              <a:avLst/>
              <a:gdLst/>
              <a:ahLst/>
              <a:cxnLst/>
              <a:rect r="r" b="b" t="t" l="l"/>
              <a:pathLst>
                <a:path h="1088308" w="586402">
                  <a:moveTo>
                    <a:pt x="173859" y="0"/>
                  </a:moveTo>
                  <a:lnTo>
                    <a:pt x="412543" y="0"/>
                  </a:lnTo>
                  <a:cubicBezTo>
                    <a:pt x="458653" y="0"/>
                    <a:pt x="502875" y="18317"/>
                    <a:pt x="535479" y="50922"/>
                  </a:cubicBezTo>
                  <a:cubicBezTo>
                    <a:pt x="568084" y="83527"/>
                    <a:pt x="586402" y="127749"/>
                    <a:pt x="586402" y="173859"/>
                  </a:cubicBezTo>
                  <a:lnTo>
                    <a:pt x="586402" y="914449"/>
                  </a:lnTo>
                  <a:cubicBezTo>
                    <a:pt x="586402" y="960559"/>
                    <a:pt x="568084" y="1004781"/>
                    <a:pt x="535479" y="1037386"/>
                  </a:cubicBezTo>
                  <a:cubicBezTo>
                    <a:pt x="502875" y="1069990"/>
                    <a:pt x="458653" y="1088308"/>
                    <a:pt x="412543" y="1088308"/>
                  </a:cubicBezTo>
                  <a:lnTo>
                    <a:pt x="173859" y="1088308"/>
                  </a:lnTo>
                  <a:cubicBezTo>
                    <a:pt x="127749" y="1088308"/>
                    <a:pt x="83527" y="1069990"/>
                    <a:pt x="50922" y="1037386"/>
                  </a:cubicBezTo>
                  <a:cubicBezTo>
                    <a:pt x="18317" y="1004781"/>
                    <a:pt x="0" y="960559"/>
                    <a:pt x="0" y="914449"/>
                  </a:cubicBezTo>
                  <a:lnTo>
                    <a:pt x="0" y="173859"/>
                  </a:lnTo>
                  <a:cubicBezTo>
                    <a:pt x="0" y="127749"/>
                    <a:pt x="18317" y="83527"/>
                    <a:pt x="50922" y="50922"/>
                  </a:cubicBezTo>
                  <a:cubicBezTo>
                    <a:pt x="83527" y="18317"/>
                    <a:pt x="127749" y="0"/>
                    <a:pt x="173859" y="0"/>
                  </a:cubicBezTo>
                  <a:close/>
                </a:path>
              </a:pathLst>
            </a:custGeom>
            <a:solidFill>
              <a:srgbClr val="EAE4D2"/>
            </a:solidFill>
          </p:spPr>
        </p:sp>
        <p:sp>
          <p:nvSpPr>
            <p:cNvPr name="TextBox 20" id="20"/>
            <p:cNvSpPr txBox="true"/>
            <p:nvPr/>
          </p:nvSpPr>
          <p:spPr>
            <a:xfrm>
              <a:off x="0" y="-47625"/>
              <a:ext cx="586402" cy="1135933"/>
            </a:xfrm>
            <a:prstGeom prst="rect">
              <a:avLst/>
            </a:prstGeom>
          </p:spPr>
          <p:txBody>
            <a:bodyPr anchor="ctr" rtlCol="false" tIns="50800" lIns="50800" bIns="50800" rIns="50800"/>
            <a:lstStyle/>
            <a:p>
              <a:pPr algn="ctr">
                <a:lnSpc>
                  <a:spcPts val="2479"/>
                </a:lnSpc>
              </a:pPr>
            </a:p>
            <a:p>
              <a:pPr algn="ctr">
                <a:lnSpc>
                  <a:spcPts val="2479"/>
                </a:lnSpc>
              </a:pPr>
            </a:p>
            <a:p>
              <a:pPr algn="ctr">
                <a:lnSpc>
                  <a:spcPts val="2479"/>
                </a:lnSpc>
              </a:pPr>
            </a:p>
            <a:p>
              <a:pPr algn="ctr">
                <a:lnSpc>
                  <a:spcPts val="2479"/>
                </a:lnSpc>
              </a:pPr>
            </a:p>
          </p:txBody>
        </p:sp>
      </p:grpSp>
      <p:grpSp>
        <p:nvGrpSpPr>
          <p:cNvPr name="Group 21" id="21"/>
          <p:cNvGrpSpPr/>
          <p:nvPr/>
        </p:nvGrpSpPr>
        <p:grpSpPr>
          <a:xfrm rot="0">
            <a:off x="3392392" y="3478842"/>
            <a:ext cx="1984229" cy="4132168"/>
            <a:chOff x="0" y="0"/>
            <a:chExt cx="522595" cy="1088308"/>
          </a:xfrm>
        </p:grpSpPr>
        <p:sp>
          <p:nvSpPr>
            <p:cNvPr name="Freeform 22" id="22"/>
            <p:cNvSpPr/>
            <p:nvPr/>
          </p:nvSpPr>
          <p:spPr>
            <a:xfrm flipH="false" flipV="false" rot="0">
              <a:off x="0" y="0"/>
              <a:ext cx="522595" cy="1088308"/>
            </a:xfrm>
            <a:custGeom>
              <a:avLst/>
              <a:gdLst/>
              <a:ahLst/>
              <a:cxnLst/>
              <a:rect r="r" b="b" t="t" l="l"/>
              <a:pathLst>
                <a:path h="1088308" w="522595">
                  <a:moveTo>
                    <a:pt x="195086" y="0"/>
                  </a:moveTo>
                  <a:lnTo>
                    <a:pt x="327509" y="0"/>
                  </a:lnTo>
                  <a:cubicBezTo>
                    <a:pt x="379249" y="0"/>
                    <a:pt x="428870" y="20554"/>
                    <a:pt x="465456" y="57139"/>
                  </a:cubicBezTo>
                  <a:cubicBezTo>
                    <a:pt x="502042" y="93725"/>
                    <a:pt x="522595" y="143346"/>
                    <a:pt x="522595" y="195086"/>
                  </a:cubicBezTo>
                  <a:lnTo>
                    <a:pt x="522595" y="893221"/>
                  </a:lnTo>
                  <a:cubicBezTo>
                    <a:pt x="522595" y="1000964"/>
                    <a:pt x="435252" y="1088308"/>
                    <a:pt x="327509" y="1088308"/>
                  </a:cubicBezTo>
                  <a:lnTo>
                    <a:pt x="195086" y="1088308"/>
                  </a:lnTo>
                  <a:cubicBezTo>
                    <a:pt x="143346" y="1088308"/>
                    <a:pt x="93725" y="1067754"/>
                    <a:pt x="57139" y="1031168"/>
                  </a:cubicBezTo>
                  <a:cubicBezTo>
                    <a:pt x="20554" y="994582"/>
                    <a:pt x="0" y="944961"/>
                    <a:pt x="0" y="893221"/>
                  </a:cubicBezTo>
                  <a:lnTo>
                    <a:pt x="0" y="195086"/>
                  </a:lnTo>
                  <a:cubicBezTo>
                    <a:pt x="0" y="87343"/>
                    <a:pt x="87343" y="0"/>
                    <a:pt x="195086" y="0"/>
                  </a:cubicBezTo>
                  <a:close/>
                </a:path>
              </a:pathLst>
            </a:custGeom>
            <a:solidFill>
              <a:srgbClr val="EAE4D2"/>
            </a:solidFill>
          </p:spPr>
        </p:sp>
        <p:sp>
          <p:nvSpPr>
            <p:cNvPr name="TextBox 23" id="23"/>
            <p:cNvSpPr txBox="true"/>
            <p:nvPr/>
          </p:nvSpPr>
          <p:spPr>
            <a:xfrm>
              <a:off x="0" y="-47625"/>
              <a:ext cx="522595" cy="1135933"/>
            </a:xfrm>
            <a:prstGeom prst="rect">
              <a:avLst/>
            </a:prstGeom>
          </p:spPr>
          <p:txBody>
            <a:bodyPr anchor="ctr" rtlCol="false" tIns="50800" lIns="50800" bIns="50800" rIns="50800"/>
            <a:lstStyle/>
            <a:p>
              <a:pPr algn="ctr">
                <a:lnSpc>
                  <a:spcPts val="2479"/>
                </a:lnSpc>
              </a:pPr>
            </a:p>
          </p:txBody>
        </p:sp>
      </p:grpSp>
      <p:grpSp>
        <p:nvGrpSpPr>
          <p:cNvPr name="Group 24" id="24"/>
          <p:cNvGrpSpPr/>
          <p:nvPr/>
        </p:nvGrpSpPr>
        <p:grpSpPr>
          <a:xfrm rot="0">
            <a:off x="6551268" y="3478842"/>
            <a:ext cx="2129772" cy="4132168"/>
            <a:chOff x="0" y="0"/>
            <a:chExt cx="560928" cy="1088308"/>
          </a:xfrm>
        </p:grpSpPr>
        <p:sp>
          <p:nvSpPr>
            <p:cNvPr name="Freeform 25" id="25"/>
            <p:cNvSpPr/>
            <p:nvPr/>
          </p:nvSpPr>
          <p:spPr>
            <a:xfrm flipH="false" flipV="false" rot="0">
              <a:off x="0" y="0"/>
              <a:ext cx="560928" cy="1088308"/>
            </a:xfrm>
            <a:custGeom>
              <a:avLst/>
              <a:gdLst/>
              <a:ahLst/>
              <a:cxnLst/>
              <a:rect r="r" b="b" t="t" l="l"/>
              <a:pathLst>
                <a:path h="1088308" w="560928">
                  <a:moveTo>
                    <a:pt x="181755" y="0"/>
                  </a:moveTo>
                  <a:lnTo>
                    <a:pt x="379173" y="0"/>
                  </a:lnTo>
                  <a:cubicBezTo>
                    <a:pt x="427377" y="0"/>
                    <a:pt x="473607" y="19149"/>
                    <a:pt x="507693" y="53235"/>
                  </a:cubicBezTo>
                  <a:cubicBezTo>
                    <a:pt x="541779" y="87320"/>
                    <a:pt x="560928" y="133550"/>
                    <a:pt x="560928" y="181755"/>
                  </a:cubicBezTo>
                  <a:lnTo>
                    <a:pt x="560928" y="906553"/>
                  </a:lnTo>
                  <a:cubicBezTo>
                    <a:pt x="560928" y="1006933"/>
                    <a:pt x="479553" y="1088308"/>
                    <a:pt x="379173" y="1088308"/>
                  </a:cubicBezTo>
                  <a:lnTo>
                    <a:pt x="181755" y="1088308"/>
                  </a:lnTo>
                  <a:cubicBezTo>
                    <a:pt x="133550" y="1088308"/>
                    <a:pt x="87320" y="1069158"/>
                    <a:pt x="53235" y="1035073"/>
                  </a:cubicBezTo>
                  <a:cubicBezTo>
                    <a:pt x="19149" y="1000987"/>
                    <a:pt x="0" y="954757"/>
                    <a:pt x="0" y="906553"/>
                  </a:cubicBezTo>
                  <a:lnTo>
                    <a:pt x="0" y="181755"/>
                  </a:lnTo>
                  <a:cubicBezTo>
                    <a:pt x="0" y="133550"/>
                    <a:pt x="19149" y="87320"/>
                    <a:pt x="53235" y="53235"/>
                  </a:cubicBezTo>
                  <a:cubicBezTo>
                    <a:pt x="87320" y="19149"/>
                    <a:pt x="133550" y="0"/>
                    <a:pt x="181755" y="0"/>
                  </a:cubicBezTo>
                  <a:close/>
                </a:path>
              </a:pathLst>
            </a:custGeom>
            <a:solidFill>
              <a:srgbClr val="EAE4D2"/>
            </a:solidFill>
          </p:spPr>
        </p:sp>
        <p:sp>
          <p:nvSpPr>
            <p:cNvPr name="TextBox 26" id="26"/>
            <p:cNvSpPr txBox="true"/>
            <p:nvPr/>
          </p:nvSpPr>
          <p:spPr>
            <a:xfrm>
              <a:off x="0" y="-47625"/>
              <a:ext cx="560928" cy="1135933"/>
            </a:xfrm>
            <a:prstGeom prst="rect">
              <a:avLst/>
            </a:prstGeom>
          </p:spPr>
          <p:txBody>
            <a:bodyPr anchor="ctr" rtlCol="false" tIns="50800" lIns="50800" bIns="50800" rIns="50800"/>
            <a:lstStyle/>
            <a:p>
              <a:pPr algn="ctr">
                <a:lnSpc>
                  <a:spcPts val="2479"/>
                </a:lnSpc>
              </a:pPr>
            </a:p>
          </p:txBody>
        </p:sp>
      </p:grpSp>
      <p:grpSp>
        <p:nvGrpSpPr>
          <p:cNvPr name="Group 27" id="27"/>
          <p:cNvGrpSpPr/>
          <p:nvPr/>
        </p:nvGrpSpPr>
        <p:grpSpPr>
          <a:xfrm rot="0">
            <a:off x="9710106" y="3478842"/>
            <a:ext cx="2149194" cy="4132168"/>
            <a:chOff x="0" y="0"/>
            <a:chExt cx="566043" cy="1088308"/>
          </a:xfrm>
        </p:grpSpPr>
        <p:sp>
          <p:nvSpPr>
            <p:cNvPr name="Freeform 28" id="28"/>
            <p:cNvSpPr/>
            <p:nvPr/>
          </p:nvSpPr>
          <p:spPr>
            <a:xfrm flipH="false" flipV="false" rot="0">
              <a:off x="0" y="0"/>
              <a:ext cx="566043" cy="1088308"/>
            </a:xfrm>
            <a:custGeom>
              <a:avLst/>
              <a:gdLst/>
              <a:ahLst/>
              <a:cxnLst/>
              <a:rect r="r" b="b" t="t" l="l"/>
              <a:pathLst>
                <a:path h="1088308" w="566043">
                  <a:moveTo>
                    <a:pt x="180112" y="0"/>
                  </a:moveTo>
                  <a:lnTo>
                    <a:pt x="385931" y="0"/>
                  </a:lnTo>
                  <a:cubicBezTo>
                    <a:pt x="485404" y="0"/>
                    <a:pt x="566043" y="80639"/>
                    <a:pt x="566043" y="180112"/>
                  </a:cubicBezTo>
                  <a:lnTo>
                    <a:pt x="566043" y="908195"/>
                  </a:lnTo>
                  <a:cubicBezTo>
                    <a:pt x="566043" y="1007669"/>
                    <a:pt x="485404" y="1088308"/>
                    <a:pt x="385931" y="1088308"/>
                  </a:cubicBezTo>
                  <a:lnTo>
                    <a:pt x="180112" y="1088308"/>
                  </a:lnTo>
                  <a:cubicBezTo>
                    <a:pt x="80639" y="1088308"/>
                    <a:pt x="0" y="1007669"/>
                    <a:pt x="0" y="908195"/>
                  </a:cubicBezTo>
                  <a:lnTo>
                    <a:pt x="0" y="180112"/>
                  </a:lnTo>
                  <a:cubicBezTo>
                    <a:pt x="0" y="80639"/>
                    <a:pt x="80639" y="0"/>
                    <a:pt x="180112" y="0"/>
                  </a:cubicBezTo>
                  <a:close/>
                </a:path>
              </a:pathLst>
            </a:custGeom>
            <a:solidFill>
              <a:srgbClr val="EAE4D2"/>
            </a:solidFill>
          </p:spPr>
        </p:sp>
        <p:sp>
          <p:nvSpPr>
            <p:cNvPr name="TextBox 29" id="29"/>
            <p:cNvSpPr txBox="true"/>
            <p:nvPr/>
          </p:nvSpPr>
          <p:spPr>
            <a:xfrm>
              <a:off x="0" y="-66675"/>
              <a:ext cx="566043" cy="1154983"/>
            </a:xfrm>
            <a:prstGeom prst="rect">
              <a:avLst/>
            </a:prstGeom>
          </p:spPr>
          <p:txBody>
            <a:bodyPr anchor="ctr" rtlCol="false" tIns="50800" lIns="50800" bIns="50800" rIns="50800"/>
            <a:lstStyle/>
            <a:p>
              <a:pPr algn="ctr">
                <a:lnSpc>
                  <a:spcPts val="3099"/>
                </a:lnSpc>
              </a:pPr>
              <a:r>
                <a:rPr lang="en-US" sz="1999" b="true">
                  <a:solidFill>
                    <a:srgbClr val="000000"/>
                  </a:solidFill>
                  <a:latin typeface="Open Sans 1 Bold"/>
                  <a:ea typeface="Open Sans 1 Bold"/>
                  <a:cs typeface="Open Sans 1 Bold"/>
                  <a:sym typeface="Open Sans 1 Bold"/>
                </a:rPr>
                <a:t>Guided Project </a:t>
              </a:r>
            </a:p>
            <a:p>
              <a:pPr algn="ctr">
                <a:lnSpc>
                  <a:spcPts val="3099"/>
                </a:lnSpc>
              </a:pPr>
              <a:r>
                <a:rPr lang="en-US" b="true" sz="1999">
                  <a:solidFill>
                    <a:srgbClr val="000000"/>
                  </a:solidFill>
                  <a:latin typeface="Open Sans 1 Bold"/>
                  <a:ea typeface="Open Sans 1 Bold"/>
                  <a:cs typeface="Open Sans 1 Bold"/>
                  <a:sym typeface="Open Sans 1 Bold"/>
                </a:rPr>
                <a:t>(With regular interactions with mentor)</a:t>
              </a:r>
            </a:p>
          </p:txBody>
        </p:sp>
      </p:grpSp>
      <p:sp>
        <p:nvSpPr>
          <p:cNvPr name="Freeform 30" id="30"/>
          <p:cNvSpPr/>
          <p:nvPr/>
        </p:nvSpPr>
        <p:spPr>
          <a:xfrm flipH="false" flipV="false" rot="0">
            <a:off x="-664650" y="5506943"/>
            <a:ext cx="3797263" cy="3493482"/>
          </a:xfrm>
          <a:custGeom>
            <a:avLst/>
            <a:gdLst/>
            <a:ahLst/>
            <a:cxnLst/>
            <a:rect r="r" b="b" t="t" l="l"/>
            <a:pathLst>
              <a:path h="3493482" w="3797263">
                <a:moveTo>
                  <a:pt x="0" y="0"/>
                </a:moveTo>
                <a:lnTo>
                  <a:pt x="3797263" y="0"/>
                </a:lnTo>
                <a:lnTo>
                  <a:pt x="3797263" y="3493482"/>
                </a:lnTo>
                <a:lnTo>
                  <a:pt x="0" y="3493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1" id="31"/>
          <p:cNvSpPr/>
          <p:nvPr/>
        </p:nvSpPr>
        <p:spPr>
          <a:xfrm flipH="false" flipV="false" rot="-10733290">
            <a:off x="15146240" y="2081115"/>
            <a:ext cx="4074247" cy="3748308"/>
          </a:xfrm>
          <a:custGeom>
            <a:avLst/>
            <a:gdLst/>
            <a:ahLst/>
            <a:cxnLst/>
            <a:rect r="r" b="b" t="t" l="l"/>
            <a:pathLst>
              <a:path h="3748308" w="4074247">
                <a:moveTo>
                  <a:pt x="0" y="0"/>
                </a:moveTo>
                <a:lnTo>
                  <a:pt x="4074247" y="0"/>
                </a:lnTo>
                <a:lnTo>
                  <a:pt x="4074247" y="3748308"/>
                </a:lnTo>
                <a:lnTo>
                  <a:pt x="0" y="3748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2" id="32"/>
          <p:cNvGrpSpPr/>
          <p:nvPr/>
        </p:nvGrpSpPr>
        <p:grpSpPr>
          <a:xfrm rot="0">
            <a:off x="12841293" y="3530695"/>
            <a:ext cx="2149194" cy="4132168"/>
            <a:chOff x="0" y="0"/>
            <a:chExt cx="566043" cy="1088308"/>
          </a:xfrm>
        </p:grpSpPr>
        <p:sp>
          <p:nvSpPr>
            <p:cNvPr name="Freeform 33" id="33"/>
            <p:cNvSpPr/>
            <p:nvPr/>
          </p:nvSpPr>
          <p:spPr>
            <a:xfrm flipH="false" flipV="false" rot="0">
              <a:off x="0" y="0"/>
              <a:ext cx="566043" cy="1088308"/>
            </a:xfrm>
            <a:custGeom>
              <a:avLst/>
              <a:gdLst/>
              <a:ahLst/>
              <a:cxnLst/>
              <a:rect r="r" b="b" t="t" l="l"/>
              <a:pathLst>
                <a:path h="1088308" w="566043">
                  <a:moveTo>
                    <a:pt x="180112" y="0"/>
                  </a:moveTo>
                  <a:lnTo>
                    <a:pt x="385931" y="0"/>
                  </a:lnTo>
                  <a:cubicBezTo>
                    <a:pt x="485404" y="0"/>
                    <a:pt x="566043" y="80639"/>
                    <a:pt x="566043" y="180112"/>
                  </a:cubicBezTo>
                  <a:lnTo>
                    <a:pt x="566043" y="908195"/>
                  </a:lnTo>
                  <a:cubicBezTo>
                    <a:pt x="566043" y="1007669"/>
                    <a:pt x="485404" y="1088308"/>
                    <a:pt x="385931" y="1088308"/>
                  </a:cubicBezTo>
                  <a:lnTo>
                    <a:pt x="180112" y="1088308"/>
                  </a:lnTo>
                  <a:cubicBezTo>
                    <a:pt x="80639" y="1088308"/>
                    <a:pt x="0" y="1007669"/>
                    <a:pt x="0" y="908195"/>
                  </a:cubicBezTo>
                  <a:lnTo>
                    <a:pt x="0" y="180112"/>
                  </a:lnTo>
                  <a:cubicBezTo>
                    <a:pt x="0" y="80639"/>
                    <a:pt x="80639" y="0"/>
                    <a:pt x="180112" y="0"/>
                  </a:cubicBezTo>
                  <a:close/>
                </a:path>
              </a:pathLst>
            </a:custGeom>
            <a:solidFill>
              <a:srgbClr val="EAE4D2"/>
            </a:solidFill>
          </p:spPr>
        </p:sp>
        <p:sp>
          <p:nvSpPr>
            <p:cNvPr name="TextBox 34" id="34"/>
            <p:cNvSpPr txBox="true"/>
            <p:nvPr/>
          </p:nvSpPr>
          <p:spPr>
            <a:xfrm>
              <a:off x="0" y="-47625"/>
              <a:ext cx="566043" cy="1135933"/>
            </a:xfrm>
            <a:prstGeom prst="rect">
              <a:avLst/>
            </a:prstGeom>
          </p:spPr>
          <p:txBody>
            <a:bodyPr anchor="ctr" rtlCol="false" tIns="50800" lIns="50800" bIns="50800" rIns="50800"/>
            <a:lstStyle/>
            <a:p>
              <a:pPr algn="ctr">
                <a:lnSpc>
                  <a:spcPts val="2479"/>
                </a:lnSpc>
              </a:pPr>
            </a:p>
          </p:txBody>
        </p:sp>
      </p:grpSp>
      <p:grpSp>
        <p:nvGrpSpPr>
          <p:cNvPr name="Group 35" id="35"/>
          <p:cNvGrpSpPr/>
          <p:nvPr/>
        </p:nvGrpSpPr>
        <p:grpSpPr>
          <a:xfrm rot="0">
            <a:off x="16019083" y="3478842"/>
            <a:ext cx="2149194" cy="4132168"/>
            <a:chOff x="0" y="0"/>
            <a:chExt cx="566043" cy="1088308"/>
          </a:xfrm>
        </p:grpSpPr>
        <p:sp>
          <p:nvSpPr>
            <p:cNvPr name="Freeform 36" id="36"/>
            <p:cNvSpPr/>
            <p:nvPr/>
          </p:nvSpPr>
          <p:spPr>
            <a:xfrm flipH="false" flipV="false" rot="0">
              <a:off x="0" y="0"/>
              <a:ext cx="566043" cy="1088308"/>
            </a:xfrm>
            <a:custGeom>
              <a:avLst/>
              <a:gdLst/>
              <a:ahLst/>
              <a:cxnLst/>
              <a:rect r="r" b="b" t="t" l="l"/>
              <a:pathLst>
                <a:path h="1088308" w="566043">
                  <a:moveTo>
                    <a:pt x="180112" y="0"/>
                  </a:moveTo>
                  <a:lnTo>
                    <a:pt x="385931" y="0"/>
                  </a:lnTo>
                  <a:cubicBezTo>
                    <a:pt x="485404" y="0"/>
                    <a:pt x="566043" y="80639"/>
                    <a:pt x="566043" y="180112"/>
                  </a:cubicBezTo>
                  <a:lnTo>
                    <a:pt x="566043" y="908195"/>
                  </a:lnTo>
                  <a:cubicBezTo>
                    <a:pt x="566043" y="1007669"/>
                    <a:pt x="485404" y="1088308"/>
                    <a:pt x="385931" y="1088308"/>
                  </a:cubicBezTo>
                  <a:lnTo>
                    <a:pt x="180112" y="1088308"/>
                  </a:lnTo>
                  <a:cubicBezTo>
                    <a:pt x="80639" y="1088308"/>
                    <a:pt x="0" y="1007669"/>
                    <a:pt x="0" y="908195"/>
                  </a:cubicBezTo>
                  <a:lnTo>
                    <a:pt x="0" y="180112"/>
                  </a:lnTo>
                  <a:cubicBezTo>
                    <a:pt x="0" y="80639"/>
                    <a:pt x="80639" y="0"/>
                    <a:pt x="180112" y="0"/>
                  </a:cubicBezTo>
                  <a:close/>
                </a:path>
              </a:pathLst>
            </a:custGeom>
            <a:solidFill>
              <a:srgbClr val="EAE4D2"/>
            </a:solidFill>
          </p:spPr>
        </p:sp>
        <p:sp>
          <p:nvSpPr>
            <p:cNvPr name="TextBox 37" id="37"/>
            <p:cNvSpPr txBox="true"/>
            <p:nvPr/>
          </p:nvSpPr>
          <p:spPr>
            <a:xfrm>
              <a:off x="0" y="-47625"/>
              <a:ext cx="566043" cy="1135933"/>
            </a:xfrm>
            <a:prstGeom prst="rect">
              <a:avLst/>
            </a:prstGeom>
          </p:spPr>
          <p:txBody>
            <a:bodyPr anchor="ctr" rtlCol="false" tIns="50800" lIns="50800" bIns="50800" rIns="50800"/>
            <a:lstStyle/>
            <a:p>
              <a:pPr algn="ctr">
                <a:lnSpc>
                  <a:spcPts val="2479"/>
                </a:lnSpc>
              </a:pPr>
            </a:p>
          </p:txBody>
        </p:sp>
      </p:grpSp>
      <p:grpSp>
        <p:nvGrpSpPr>
          <p:cNvPr name="Group 38" id="38"/>
          <p:cNvGrpSpPr/>
          <p:nvPr/>
        </p:nvGrpSpPr>
        <p:grpSpPr>
          <a:xfrm rot="0">
            <a:off x="13307466" y="1972880"/>
            <a:ext cx="973755" cy="990545"/>
            <a:chOff x="0" y="0"/>
            <a:chExt cx="812800" cy="826814"/>
          </a:xfrm>
        </p:grpSpPr>
        <p:sp>
          <p:nvSpPr>
            <p:cNvPr name="Freeform 39" id="39"/>
            <p:cNvSpPr/>
            <p:nvPr/>
          </p:nvSpPr>
          <p:spPr>
            <a:xfrm flipH="false" flipV="false" rot="0">
              <a:off x="0" y="0"/>
              <a:ext cx="812800" cy="826814"/>
            </a:xfrm>
            <a:custGeom>
              <a:avLst/>
              <a:gdLst/>
              <a:ahLst/>
              <a:cxnLst/>
              <a:rect r="r" b="b" t="t" l="l"/>
              <a:pathLst>
                <a:path h="826814" w="812800">
                  <a:moveTo>
                    <a:pt x="406400" y="0"/>
                  </a:moveTo>
                  <a:cubicBezTo>
                    <a:pt x="181951" y="0"/>
                    <a:pt x="0" y="185089"/>
                    <a:pt x="0" y="413407"/>
                  </a:cubicBezTo>
                  <a:cubicBezTo>
                    <a:pt x="0" y="641726"/>
                    <a:pt x="181951" y="826814"/>
                    <a:pt x="406400" y="826814"/>
                  </a:cubicBezTo>
                  <a:cubicBezTo>
                    <a:pt x="630849" y="826814"/>
                    <a:pt x="812800" y="641726"/>
                    <a:pt x="812800" y="413407"/>
                  </a:cubicBezTo>
                  <a:cubicBezTo>
                    <a:pt x="812800" y="185089"/>
                    <a:pt x="630849" y="0"/>
                    <a:pt x="406400" y="0"/>
                  </a:cubicBezTo>
                  <a:close/>
                </a:path>
              </a:pathLst>
            </a:custGeom>
            <a:solidFill>
              <a:srgbClr val="EAE4D2"/>
            </a:solidFill>
          </p:spPr>
        </p:sp>
        <p:sp>
          <p:nvSpPr>
            <p:cNvPr name="TextBox 40" id="40"/>
            <p:cNvSpPr txBox="true"/>
            <p:nvPr/>
          </p:nvSpPr>
          <p:spPr>
            <a:xfrm>
              <a:off x="76200" y="1314"/>
              <a:ext cx="660400" cy="747987"/>
            </a:xfrm>
            <a:prstGeom prst="rect">
              <a:avLst/>
            </a:prstGeom>
          </p:spPr>
          <p:txBody>
            <a:bodyPr anchor="ctr" rtlCol="false" tIns="44470" lIns="44470" bIns="44470" rIns="44470"/>
            <a:lstStyle/>
            <a:p>
              <a:pPr algn="ctr">
                <a:lnSpc>
                  <a:spcPts val="4759"/>
                </a:lnSpc>
              </a:pPr>
              <a:r>
                <a:rPr lang="en-US" b="true" sz="3399">
                  <a:solidFill>
                    <a:srgbClr val="188AB2"/>
                  </a:solidFill>
                  <a:latin typeface="Inter Bold"/>
                  <a:ea typeface="Inter Bold"/>
                  <a:cs typeface="Inter Bold"/>
                  <a:sym typeface="Inter Bold"/>
                </a:rPr>
                <a:t>05</a:t>
              </a:r>
            </a:p>
          </p:txBody>
        </p:sp>
      </p:grpSp>
      <p:grpSp>
        <p:nvGrpSpPr>
          <p:cNvPr name="Group 41" id="41"/>
          <p:cNvGrpSpPr/>
          <p:nvPr/>
        </p:nvGrpSpPr>
        <p:grpSpPr>
          <a:xfrm rot="0">
            <a:off x="16606803" y="7813980"/>
            <a:ext cx="973755" cy="990545"/>
            <a:chOff x="0" y="0"/>
            <a:chExt cx="812800" cy="826814"/>
          </a:xfrm>
        </p:grpSpPr>
        <p:sp>
          <p:nvSpPr>
            <p:cNvPr name="Freeform 42" id="42"/>
            <p:cNvSpPr/>
            <p:nvPr/>
          </p:nvSpPr>
          <p:spPr>
            <a:xfrm flipH="false" flipV="false" rot="0">
              <a:off x="0" y="0"/>
              <a:ext cx="812800" cy="826814"/>
            </a:xfrm>
            <a:custGeom>
              <a:avLst/>
              <a:gdLst/>
              <a:ahLst/>
              <a:cxnLst/>
              <a:rect r="r" b="b" t="t" l="l"/>
              <a:pathLst>
                <a:path h="826814" w="812800">
                  <a:moveTo>
                    <a:pt x="406400" y="0"/>
                  </a:moveTo>
                  <a:cubicBezTo>
                    <a:pt x="181951" y="0"/>
                    <a:pt x="0" y="185089"/>
                    <a:pt x="0" y="413407"/>
                  </a:cubicBezTo>
                  <a:cubicBezTo>
                    <a:pt x="0" y="641726"/>
                    <a:pt x="181951" y="826814"/>
                    <a:pt x="406400" y="826814"/>
                  </a:cubicBezTo>
                  <a:cubicBezTo>
                    <a:pt x="630849" y="826814"/>
                    <a:pt x="812800" y="641726"/>
                    <a:pt x="812800" y="413407"/>
                  </a:cubicBezTo>
                  <a:cubicBezTo>
                    <a:pt x="812800" y="185089"/>
                    <a:pt x="630849" y="0"/>
                    <a:pt x="406400" y="0"/>
                  </a:cubicBezTo>
                  <a:close/>
                </a:path>
              </a:pathLst>
            </a:custGeom>
            <a:solidFill>
              <a:srgbClr val="EAE4D2"/>
            </a:solidFill>
          </p:spPr>
        </p:sp>
        <p:sp>
          <p:nvSpPr>
            <p:cNvPr name="TextBox 43" id="43"/>
            <p:cNvSpPr txBox="true"/>
            <p:nvPr/>
          </p:nvSpPr>
          <p:spPr>
            <a:xfrm>
              <a:off x="76200" y="1314"/>
              <a:ext cx="660400" cy="747987"/>
            </a:xfrm>
            <a:prstGeom prst="rect">
              <a:avLst/>
            </a:prstGeom>
          </p:spPr>
          <p:txBody>
            <a:bodyPr anchor="ctr" rtlCol="false" tIns="44470" lIns="44470" bIns="44470" rIns="44470"/>
            <a:lstStyle/>
            <a:p>
              <a:pPr algn="ctr">
                <a:lnSpc>
                  <a:spcPts val="4759"/>
                </a:lnSpc>
              </a:pPr>
              <a:r>
                <a:rPr lang="en-US" b="true" sz="3399">
                  <a:solidFill>
                    <a:srgbClr val="188AB2"/>
                  </a:solidFill>
                  <a:latin typeface="Inter Bold"/>
                  <a:ea typeface="Inter Bold"/>
                  <a:cs typeface="Inter Bold"/>
                  <a:sym typeface="Inter Bold"/>
                </a:rPr>
                <a:t>06</a:t>
              </a:r>
            </a:p>
          </p:txBody>
        </p:sp>
      </p:grpSp>
      <p:sp>
        <p:nvSpPr>
          <p:cNvPr name="Freeform 44" id="44"/>
          <p:cNvSpPr/>
          <p:nvPr/>
        </p:nvSpPr>
        <p:spPr>
          <a:xfrm flipH="false" flipV="false" rot="-5400000">
            <a:off x="1347051" y="-149504"/>
            <a:ext cx="524103" cy="3351822"/>
          </a:xfrm>
          <a:custGeom>
            <a:avLst/>
            <a:gdLst/>
            <a:ahLst/>
            <a:cxnLst/>
            <a:rect r="r" b="b" t="t" l="l"/>
            <a:pathLst>
              <a:path h="3351822" w="524103">
                <a:moveTo>
                  <a:pt x="0" y="0"/>
                </a:moveTo>
                <a:lnTo>
                  <a:pt x="524103" y="0"/>
                </a:lnTo>
                <a:lnTo>
                  <a:pt x="524103" y="3351822"/>
                </a:lnTo>
                <a:lnTo>
                  <a:pt x="0" y="3351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5" id="45"/>
          <p:cNvSpPr/>
          <p:nvPr/>
        </p:nvSpPr>
        <p:spPr>
          <a:xfrm flipH="false" flipV="false" rot="-5400000">
            <a:off x="4640431" y="-149504"/>
            <a:ext cx="524103" cy="3351822"/>
          </a:xfrm>
          <a:custGeom>
            <a:avLst/>
            <a:gdLst/>
            <a:ahLst/>
            <a:cxnLst/>
            <a:rect r="r" b="b" t="t" l="l"/>
            <a:pathLst>
              <a:path h="3351822" w="524103">
                <a:moveTo>
                  <a:pt x="0" y="0"/>
                </a:moveTo>
                <a:lnTo>
                  <a:pt x="524103" y="0"/>
                </a:lnTo>
                <a:lnTo>
                  <a:pt x="524103" y="3351822"/>
                </a:lnTo>
                <a:lnTo>
                  <a:pt x="0" y="3351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6" id="46"/>
          <p:cNvSpPr/>
          <p:nvPr/>
        </p:nvSpPr>
        <p:spPr>
          <a:xfrm flipH="false" flipV="false" rot="-5400000">
            <a:off x="7916544" y="-149504"/>
            <a:ext cx="524103" cy="3351822"/>
          </a:xfrm>
          <a:custGeom>
            <a:avLst/>
            <a:gdLst/>
            <a:ahLst/>
            <a:cxnLst/>
            <a:rect r="r" b="b" t="t" l="l"/>
            <a:pathLst>
              <a:path h="3351822" w="524103">
                <a:moveTo>
                  <a:pt x="0" y="0"/>
                </a:moveTo>
                <a:lnTo>
                  <a:pt x="524103" y="0"/>
                </a:lnTo>
                <a:lnTo>
                  <a:pt x="524103" y="3351822"/>
                </a:lnTo>
                <a:lnTo>
                  <a:pt x="0" y="3351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7" id="47"/>
          <p:cNvSpPr/>
          <p:nvPr/>
        </p:nvSpPr>
        <p:spPr>
          <a:xfrm flipH="false" flipV="false" rot="-5400000">
            <a:off x="11188591" y="-149504"/>
            <a:ext cx="524103" cy="3351822"/>
          </a:xfrm>
          <a:custGeom>
            <a:avLst/>
            <a:gdLst/>
            <a:ahLst/>
            <a:cxnLst/>
            <a:rect r="r" b="b" t="t" l="l"/>
            <a:pathLst>
              <a:path h="3351822" w="524103">
                <a:moveTo>
                  <a:pt x="0" y="0"/>
                </a:moveTo>
                <a:lnTo>
                  <a:pt x="524103" y="0"/>
                </a:lnTo>
                <a:lnTo>
                  <a:pt x="524103" y="3351822"/>
                </a:lnTo>
                <a:lnTo>
                  <a:pt x="0" y="3351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8" id="48"/>
          <p:cNvSpPr/>
          <p:nvPr/>
        </p:nvSpPr>
        <p:spPr>
          <a:xfrm flipH="false" flipV="false" rot="-5400000">
            <a:off x="14487816" y="-149504"/>
            <a:ext cx="524103" cy="3351822"/>
          </a:xfrm>
          <a:custGeom>
            <a:avLst/>
            <a:gdLst/>
            <a:ahLst/>
            <a:cxnLst/>
            <a:rect r="r" b="b" t="t" l="l"/>
            <a:pathLst>
              <a:path h="3351822" w="524103">
                <a:moveTo>
                  <a:pt x="0" y="0"/>
                </a:moveTo>
                <a:lnTo>
                  <a:pt x="524103" y="0"/>
                </a:lnTo>
                <a:lnTo>
                  <a:pt x="524103" y="3351822"/>
                </a:lnTo>
                <a:lnTo>
                  <a:pt x="0" y="3351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9" id="49"/>
          <p:cNvSpPr/>
          <p:nvPr/>
        </p:nvSpPr>
        <p:spPr>
          <a:xfrm flipH="false" flipV="false" rot="-5400000">
            <a:off x="17740813" y="-149504"/>
            <a:ext cx="524103" cy="3351822"/>
          </a:xfrm>
          <a:custGeom>
            <a:avLst/>
            <a:gdLst/>
            <a:ahLst/>
            <a:cxnLst/>
            <a:rect r="r" b="b" t="t" l="l"/>
            <a:pathLst>
              <a:path h="3351822" w="524103">
                <a:moveTo>
                  <a:pt x="0" y="0"/>
                </a:moveTo>
                <a:lnTo>
                  <a:pt x="524103" y="0"/>
                </a:lnTo>
                <a:lnTo>
                  <a:pt x="524103" y="3351822"/>
                </a:lnTo>
                <a:lnTo>
                  <a:pt x="0" y="3351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0" id="50"/>
          <p:cNvSpPr/>
          <p:nvPr/>
        </p:nvSpPr>
        <p:spPr>
          <a:xfrm flipH="false" flipV="false" rot="-5400000">
            <a:off x="-1441647" y="7991239"/>
            <a:ext cx="524103" cy="3351822"/>
          </a:xfrm>
          <a:custGeom>
            <a:avLst/>
            <a:gdLst/>
            <a:ahLst/>
            <a:cxnLst/>
            <a:rect r="r" b="b" t="t" l="l"/>
            <a:pathLst>
              <a:path h="3351822" w="524103">
                <a:moveTo>
                  <a:pt x="0" y="0"/>
                </a:moveTo>
                <a:lnTo>
                  <a:pt x="524104" y="0"/>
                </a:lnTo>
                <a:lnTo>
                  <a:pt x="524104" y="3351823"/>
                </a:lnTo>
                <a:lnTo>
                  <a:pt x="0" y="33518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1" id="51"/>
          <p:cNvSpPr/>
          <p:nvPr/>
        </p:nvSpPr>
        <p:spPr>
          <a:xfrm flipH="false" flipV="false" rot="-5400000">
            <a:off x="6316342" y="7991239"/>
            <a:ext cx="524103" cy="3351822"/>
          </a:xfrm>
          <a:custGeom>
            <a:avLst/>
            <a:gdLst/>
            <a:ahLst/>
            <a:cxnLst/>
            <a:rect r="r" b="b" t="t" l="l"/>
            <a:pathLst>
              <a:path h="3351822" w="524103">
                <a:moveTo>
                  <a:pt x="0" y="0"/>
                </a:moveTo>
                <a:lnTo>
                  <a:pt x="524103" y="0"/>
                </a:lnTo>
                <a:lnTo>
                  <a:pt x="524103" y="3351823"/>
                </a:lnTo>
                <a:lnTo>
                  <a:pt x="0" y="33518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2" id="52"/>
          <p:cNvSpPr/>
          <p:nvPr/>
        </p:nvSpPr>
        <p:spPr>
          <a:xfrm flipH="false" flipV="false" rot="-5400000">
            <a:off x="9225336" y="7991239"/>
            <a:ext cx="524103" cy="3351822"/>
          </a:xfrm>
          <a:custGeom>
            <a:avLst/>
            <a:gdLst/>
            <a:ahLst/>
            <a:cxnLst/>
            <a:rect r="r" b="b" t="t" l="l"/>
            <a:pathLst>
              <a:path h="3351822" w="524103">
                <a:moveTo>
                  <a:pt x="0" y="0"/>
                </a:moveTo>
                <a:lnTo>
                  <a:pt x="524103" y="0"/>
                </a:lnTo>
                <a:lnTo>
                  <a:pt x="524103" y="3351823"/>
                </a:lnTo>
                <a:lnTo>
                  <a:pt x="0" y="33518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3" id="53"/>
          <p:cNvSpPr/>
          <p:nvPr/>
        </p:nvSpPr>
        <p:spPr>
          <a:xfrm flipH="false" flipV="false" rot="-5400000">
            <a:off x="12470536" y="7991239"/>
            <a:ext cx="524103" cy="3351822"/>
          </a:xfrm>
          <a:custGeom>
            <a:avLst/>
            <a:gdLst/>
            <a:ahLst/>
            <a:cxnLst/>
            <a:rect r="r" b="b" t="t" l="l"/>
            <a:pathLst>
              <a:path h="3351822" w="524103">
                <a:moveTo>
                  <a:pt x="0" y="0"/>
                </a:moveTo>
                <a:lnTo>
                  <a:pt x="524103" y="0"/>
                </a:lnTo>
                <a:lnTo>
                  <a:pt x="524103" y="3351823"/>
                </a:lnTo>
                <a:lnTo>
                  <a:pt x="0" y="33518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4" id="54"/>
          <p:cNvSpPr/>
          <p:nvPr/>
        </p:nvSpPr>
        <p:spPr>
          <a:xfrm flipH="false" flipV="false" rot="0">
            <a:off x="940273" y="7910556"/>
            <a:ext cx="642264" cy="797393"/>
          </a:xfrm>
          <a:custGeom>
            <a:avLst/>
            <a:gdLst/>
            <a:ahLst/>
            <a:cxnLst/>
            <a:rect r="r" b="b" t="t" l="l"/>
            <a:pathLst>
              <a:path h="797393" w="642264">
                <a:moveTo>
                  <a:pt x="0" y="0"/>
                </a:moveTo>
                <a:lnTo>
                  <a:pt x="642264" y="0"/>
                </a:lnTo>
                <a:lnTo>
                  <a:pt x="642264" y="797393"/>
                </a:lnTo>
                <a:lnTo>
                  <a:pt x="0" y="7973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5" id="55"/>
          <p:cNvSpPr txBox="true"/>
          <p:nvPr/>
        </p:nvSpPr>
        <p:spPr>
          <a:xfrm rot="0">
            <a:off x="347055" y="146121"/>
            <a:ext cx="11195678" cy="994410"/>
          </a:xfrm>
          <a:prstGeom prst="rect">
            <a:avLst/>
          </a:prstGeom>
        </p:spPr>
        <p:txBody>
          <a:bodyPr anchor="t" rtlCol="false" tIns="0" lIns="0" bIns="0" rIns="0">
            <a:spAutoFit/>
          </a:bodyPr>
          <a:lstStyle/>
          <a:p>
            <a:pPr algn="l">
              <a:lnSpc>
                <a:spcPts val="7560"/>
              </a:lnSpc>
            </a:pPr>
            <a:r>
              <a:rPr lang="en-US" sz="7200" b="true">
                <a:solidFill>
                  <a:srgbClr val="737373"/>
                </a:solidFill>
                <a:latin typeface="Inter Bold"/>
                <a:ea typeface="Inter Bold"/>
                <a:cs typeface="Inter Bold"/>
                <a:sym typeface="Inter Bold"/>
              </a:rPr>
              <a:t>OUR PLAN OF ACTION</a:t>
            </a:r>
          </a:p>
        </p:txBody>
      </p:sp>
      <p:sp>
        <p:nvSpPr>
          <p:cNvPr name="Freeform 56" id="56"/>
          <p:cNvSpPr/>
          <p:nvPr/>
        </p:nvSpPr>
        <p:spPr>
          <a:xfrm flipH="false" flipV="false" rot="0">
            <a:off x="4031705" y="1907761"/>
            <a:ext cx="642264" cy="797393"/>
          </a:xfrm>
          <a:custGeom>
            <a:avLst/>
            <a:gdLst/>
            <a:ahLst/>
            <a:cxnLst/>
            <a:rect r="r" b="b" t="t" l="l"/>
            <a:pathLst>
              <a:path h="797393" w="642264">
                <a:moveTo>
                  <a:pt x="0" y="0"/>
                </a:moveTo>
                <a:lnTo>
                  <a:pt x="642264" y="0"/>
                </a:lnTo>
                <a:lnTo>
                  <a:pt x="642264" y="797393"/>
                </a:lnTo>
                <a:lnTo>
                  <a:pt x="0" y="7973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7" id="57"/>
          <p:cNvSpPr/>
          <p:nvPr/>
        </p:nvSpPr>
        <p:spPr>
          <a:xfrm flipH="false" flipV="false" rot="0">
            <a:off x="7232436" y="7910556"/>
            <a:ext cx="642264" cy="797393"/>
          </a:xfrm>
          <a:custGeom>
            <a:avLst/>
            <a:gdLst/>
            <a:ahLst/>
            <a:cxnLst/>
            <a:rect r="r" b="b" t="t" l="l"/>
            <a:pathLst>
              <a:path h="797393" w="642264">
                <a:moveTo>
                  <a:pt x="0" y="0"/>
                </a:moveTo>
                <a:lnTo>
                  <a:pt x="642264" y="0"/>
                </a:lnTo>
                <a:lnTo>
                  <a:pt x="642264" y="797393"/>
                </a:lnTo>
                <a:lnTo>
                  <a:pt x="0" y="7973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8" id="58"/>
          <p:cNvSpPr/>
          <p:nvPr/>
        </p:nvSpPr>
        <p:spPr>
          <a:xfrm flipH="false" flipV="false" rot="0">
            <a:off x="10414413" y="1907761"/>
            <a:ext cx="642264" cy="797393"/>
          </a:xfrm>
          <a:custGeom>
            <a:avLst/>
            <a:gdLst/>
            <a:ahLst/>
            <a:cxnLst/>
            <a:rect r="r" b="b" t="t" l="l"/>
            <a:pathLst>
              <a:path h="797393" w="642264">
                <a:moveTo>
                  <a:pt x="0" y="0"/>
                </a:moveTo>
                <a:lnTo>
                  <a:pt x="642264" y="0"/>
                </a:lnTo>
                <a:lnTo>
                  <a:pt x="642264" y="797393"/>
                </a:lnTo>
                <a:lnTo>
                  <a:pt x="0" y="7973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9" id="59"/>
          <p:cNvSpPr/>
          <p:nvPr/>
        </p:nvSpPr>
        <p:spPr>
          <a:xfrm flipH="false" flipV="false" rot="0">
            <a:off x="13580114" y="7910556"/>
            <a:ext cx="642264" cy="797393"/>
          </a:xfrm>
          <a:custGeom>
            <a:avLst/>
            <a:gdLst/>
            <a:ahLst/>
            <a:cxnLst/>
            <a:rect r="r" b="b" t="t" l="l"/>
            <a:pathLst>
              <a:path h="797393" w="642264">
                <a:moveTo>
                  <a:pt x="0" y="0"/>
                </a:moveTo>
                <a:lnTo>
                  <a:pt x="642264" y="0"/>
                </a:lnTo>
                <a:lnTo>
                  <a:pt x="642264" y="797393"/>
                </a:lnTo>
                <a:lnTo>
                  <a:pt x="0" y="7973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0" id="60"/>
          <p:cNvSpPr/>
          <p:nvPr/>
        </p:nvSpPr>
        <p:spPr>
          <a:xfrm flipH="false" flipV="false" rot="0">
            <a:off x="16838264" y="1918090"/>
            <a:ext cx="642264" cy="797393"/>
          </a:xfrm>
          <a:custGeom>
            <a:avLst/>
            <a:gdLst/>
            <a:ahLst/>
            <a:cxnLst/>
            <a:rect r="r" b="b" t="t" l="l"/>
            <a:pathLst>
              <a:path h="797393" w="642264">
                <a:moveTo>
                  <a:pt x="0" y="0"/>
                </a:moveTo>
                <a:lnTo>
                  <a:pt x="642264" y="0"/>
                </a:lnTo>
                <a:lnTo>
                  <a:pt x="642264" y="797393"/>
                </a:lnTo>
                <a:lnTo>
                  <a:pt x="0" y="7973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1" id="61"/>
          <p:cNvGrpSpPr/>
          <p:nvPr/>
        </p:nvGrpSpPr>
        <p:grpSpPr>
          <a:xfrm rot="0">
            <a:off x="496316" y="9125759"/>
            <a:ext cx="4341674" cy="1029081"/>
            <a:chOff x="0" y="0"/>
            <a:chExt cx="5788899" cy="1372108"/>
          </a:xfrm>
        </p:grpSpPr>
        <p:sp>
          <p:nvSpPr>
            <p:cNvPr name="Freeform 62" id="62"/>
            <p:cNvSpPr/>
            <p:nvPr/>
          </p:nvSpPr>
          <p:spPr>
            <a:xfrm flipH="false" flipV="false" rot="0">
              <a:off x="0" y="0"/>
              <a:ext cx="1324917" cy="1372108"/>
            </a:xfrm>
            <a:custGeom>
              <a:avLst/>
              <a:gdLst/>
              <a:ahLst/>
              <a:cxnLst/>
              <a:rect r="r" b="b" t="t" l="l"/>
              <a:pathLst>
                <a:path h="1372108" w="1324917">
                  <a:moveTo>
                    <a:pt x="0" y="0"/>
                  </a:moveTo>
                  <a:lnTo>
                    <a:pt x="1324917" y="0"/>
                  </a:lnTo>
                  <a:lnTo>
                    <a:pt x="1324917" y="1372108"/>
                  </a:lnTo>
                  <a:lnTo>
                    <a:pt x="0" y="1372108"/>
                  </a:lnTo>
                  <a:lnTo>
                    <a:pt x="0" y="0"/>
                  </a:lnTo>
                  <a:close/>
                </a:path>
              </a:pathLst>
            </a:custGeom>
            <a:blipFill>
              <a:blip r:embed="rId8"/>
              <a:stretch>
                <a:fillRect l="-41328" t="0" r="-35593" b="-70836"/>
              </a:stretch>
            </a:blipFill>
          </p:spPr>
        </p:sp>
        <p:sp>
          <p:nvSpPr>
            <p:cNvPr name="TextBox 63" id="63"/>
            <p:cNvSpPr txBox="true"/>
            <p:nvPr/>
          </p:nvSpPr>
          <p:spPr>
            <a:xfrm rot="0">
              <a:off x="1407522" y="388662"/>
              <a:ext cx="4381377" cy="547158"/>
            </a:xfrm>
            <a:prstGeom prst="rect">
              <a:avLst/>
            </a:prstGeom>
          </p:spPr>
          <p:txBody>
            <a:bodyPr anchor="t" rtlCol="false" tIns="0" lIns="0" bIns="0" rIns="0">
              <a:spAutoFit/>
            </a:bodyPr>
            <a:lstStyle/>
            <a:p>
              <a:pPr algn="l">
                <a:lnSpc>
                  <a:spcPts val="3499"/>
                </a:lnSpc>
              </a:pPr>
              <a:r>
                <a:rPr lang="en-US" sz="2499" b="true">
                  <a:solidFill>
                    <a:srgbClr val="188AB2"/>
                  </a:solidFill>
                  <a:latin typeface="Open Sans 1 Semi-Bold"/>
                  <a:ea typeface="Open Sans 1 Semi-Bold"/>
                  <a:cs typeface="Open Sans 1 Semi-Bold"/>
                  <a:sym typeface="Open Sans 1 Semi-Bold"/>
                </a:rPr>
                <a:t>Your Step To Success</a:t>
              </a:r>
            </a:p>
          </p:txBody>
        </p:sp>
      </p:grpSp>
      <p:sp>
        <p:nvSpPr>
          <p:cNvPr name="Freeform 64" id="64"/>
          <p:cNvSpPr/>
          <p:nvPr/>
        </p:nvSpPr>
        <p:spPr>
          <a:xfrm flipH="false" flipV="false" rot="-5400000">
            <a:off x="15757032" y="7991239"/>
            <a:ext cx="524103" cy="3351822"/>
          </a:xfrm>
          <a:custGeom>
            <a:avLst/>
            <a:gdLst/>
            <a:ahLst/>
            <a:cxnLst/>
            <a:rect r="r" b="b" t="t" l="l"/>
            <a:pathLst>
              <a:path h="3351822" w="524103">
                <a:moveTo>
                  <a:pt x="0" y="0"/>
                </a:moveTo>
                <a:lnTo>
                  <a:pt x="524103" y="0"/>
                </a:lnTo>
                <a:lnTo>
                  <a:pt x="524103" y="3351823"/>
                </a:lnTo>
                <a:lnTo>
                  <a:pt x="0" y="33518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5" id="65"/>
          <p:cNvSpPr/>
          <p:nvPr/>
        </p:nvSpPr>
        <p:spPr>
          <a:xfrm flipH="false" flipV="false" rot="-5400000">
            <a:off x="18994418" y="7991239"/>
            <a:ext cx="524103" cy="3351822"/>
          </a:xfrm>
          <a:custGeom>
            <a:avLst/>
            <a:gdLst/>
            <a:ahLst/>
            <a:cxnLst/>
            <a:rect r="r" b="b" t="t" l="l"/>
            <a:pathLst>
              <a:path h="3351822" w="524103">
                <a:moveTo>
                  <a:pt x="0" y="0"/>
                </a:moveTo>
                <a:lnTo>
                  <a:pt x="524103" y="0"/>
                </a:lnTo>
                <a:lnTo>
                  <a:pt x="524103" y="3351823"/>
                </a:lnTo>
                <a:lnTo>
                  <a:pt x="0" y="33518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6" id="66"/>
          <p:cNvSpPr txBox="true"/>
          <p:nvPr/>
        </p:nvSpPr>
        <p:spPr>
          <a:xfrm rot="0">
            <a:off x="300361" y="4173846"/>
            <a:ext cx="1992644" cy="2816225"/>
          </a:xfrm>
          <a:prstGeom prst="rect">
            <a:avLst/>
          </a:prstGeom>
        </p:spPr>
        <p:txBody>
          <a:bodyPr anchor="t" rtlCol="false" tIns="0" lIns="0" bIns="0" rIns="0">
            <a:spAutoFit/>
          </a:bodyPr>
          <a:lstStyle/>
          <a:p>
            <a:pPr algn="ctr">
              <a:lnSpc>
                <a:spcPts val="2800"/>
              </a:lnSpc>
            </a:pPr>
            <a:r>
              <a:rPr lang="en-US" sz="2000" b="true">
                <a:solidFill>
                  <a:srgbClr val="000000"/>
                </a:solidFill>
                <a:latin typeface="Open Sans 1 Bold"/>
                <a:ea typeface="Open Sans 1 Bold"/>
                <a:cs typeface="Open Sans 1 Bold"/>
                <a:sym typeface="Open Sans 1 Bold"/>
              </a:rPr>
              <a:t>Intro</a:t>
            </a:r>
            <a:r>
              <a:rPr lang="en-US" sz="2000" b="true">
                <a:solidFill>
                  <a:srgbClr val="000000"/>
                </a:solidFill>
                <a:latin typeface="Open Sans 1 Bold"/>
                <a:ea typeface="Open Sans 1 Bold"/>
                <a:cs typeface="Open Sans 1 Bold"/>
                <a:sym typeface="Open Sans 1 Bold"/>
              </a:rPr>
              <a:t>ductory Sessions </a:t>
            </a:r>
          </a:p>
          <a:p>
            <a:pPr algn="ctr">
              <a:lnSpc>
                <a:spcPts val="2800"/>
              </a:lnSpc>
            </a:pPr>
          </a:p>
          <a:p>
            <a:pPr algn="ctr">
              <a:lnSpc>
                <a:spcPts val="2800"/>
              </a:lnSpc>
            </a:pPr>
            <a:r>
              <a:rPr lang="en-US" b="true" sz="2000">
                <a:solidFill>
                  <a:srgbClr val="000000"/>
                </a:solidFill>
                <a:latin typeface="Open Sans 1 Bold"/>
                <a:ea typeface="Open Sans 1 Bold"/>
                <a:cs typeface="Open Sans 1 Bold"/>
                <a:sym typeface="Open Sans 1 Bold"/>
              </a:rPr>
              <a:t>Flavor of Industry</a:t>
            </a:r>
          </a:p>
          <a:p>
            <a:pPr algn="ctr">
              <a:lnSpc>
                <a:spcPts val="2800"/>
              </a:lnSpc>
            </a:pPr>
          </a:p>
          <a:p>
            <a:pPr algn="ctr">
              <a:lnSpc>
                <a:spcPts val="2800"/>
              </a:lnSpc>
            </a:pPr>
            <a:r>
              <a:rPr lang="en-US" b="true" sz="2000">
                <a:solidFill>
                  <a:srgbClr val="000000"/>
                </a:solidFill>
                <a:latin typeface="Open Sans 1 Bold"/>
                <a:ea typeface="Open Sans 1 Bold"/>
                <a:cs typeface="Open Sans 1 Bold"/>
                <a:sym typeface="Open Sans 1 Bold"/>
              </a:rPr>
              <a:t> </a:t>
            </a:r>
          </a:p>
          <a:p>
            <a:pPr algn="ctr">
              <a:lnSpc>
                <a:spcPts val="2800"/>
              </a:lnSpc>
            </a:pPr>
          </a:p>
        </p:txBody>
      </p:sp>
      <p:sp>
        <p:nvSpPr>
          <p:cNvPr name="TextBox 67" id="67"/>
          <p:cNvSpPr txBox="true"/>
          <p:nvPr/>
        </p:nvSpPr>
        <p:spPr>
          <a:xfrm rot="0">
            <a:off x="3285013" y="3848971"/>
            <a:ext cx="2201199" cy="2463800"/>
          </a:xfrm>
          <a:prstGeom prst="rect">
            <a:avLst/>
          </a:prstGeom>
        </p:spPr>
        <p:txBody>
          <a:bodyPr anchor="t" rtlCol="false" tIns="0" lIns="0" bIns="0" rIns="0">
            <a:spAutoFit/>
          </a:bodyPr>
          <a:lstStyle/>
          <a:p>
            <a:pPr algn="ctr">
              <a:lnSpc>
                <a:spcPts val="2800"/>
              </a:lnSpc>
            </a:pPr>
          </a:p>
          <a:p>
            <a:pPr algn="ctr">
              <a:lnSpc>
                <a:spcPts val="2800"/>
              </a:lnSpc>
            </a:pPr>
            <a:r>
              <a:rPr lang="en-US" sz="2000" b="true">
                <a:solidFill>
                  <a:srgbClr val="000000"/>
                </a:solidFill>
                <a:latin typeface="Open Sans 1 Bold"/>
                <a:ea typeface="Open Sans 1 Bold"/>
                <a:cs typeface="Open Sans 1 Bold"/>
                <a:sym typeface="Open Sans 1 Bold"/>
              </a:rPr>
              <a:t>Resources Distribution</a:t>
            </a:r>
          </a:p>
          <a:p>
            <a:pPr algn="ctr">
              <a:lnSpc>
                <a:spcPts val="2800"/>
              </a:lnSpc>
            </a:pPr>
          </a:p>
          <a:p>
            <a:pPr algn="ctr">
              <a:lnSpc>
                <a:spcPts val="2800"/>
              </a:lnSpc>
            </a:pPr>
            <a:r>
              <a:rPr lang="en-US" sz="2000" b="true">
                <a:solidFill>
                  <a:srgbClr val="000000"/>
                </a:solidFill>
                <a:latin typeface="Open Sans 1 Bold"/>
                <a:ea typeface="Open Sans 1 Bold"/>
                <a:cs typeface="Open Sans 1 Bold"/>
                <a:sym typeface="Open Sans 1 Bold"/>
              </a:rPr>
              <a:t>Meet your mentors</a:t>
            </a:r>
          </a:p>
          <a:p>
            <a:pPr algn="ctr">
              <a:lnSpc>
                <a:spcPts val="2800"/>
              </a:lnSpc>
            </a:pPr>
          </a:p>
        </p:txBody>
      </p:sp>
      <p:sp>
        <p:nvSpPr>
          <p:cNvPr name="TextBox 68" id="68"/>
          <p:cNvSpPr txBox="true"/>
          <p:nvPr/>
        </p:nvSpPr>
        <p:spPr>
          <a:xfrm rot="0">
            <a:off x="6551268" y="4173846"/>
            <a:ext cx="2201199" cy="2463800"/>
          </a:xfrm>
          <a:prstGeom prst="rect">
            <a:avLst/>
          </a:prstGeom>
        </p:spPr>
        <p:txBody>
          <a:bodyPr anchor="t" rtlCol="false" tIns="0" lIns="0" bIns="0" rIns="0">
            <a:spAutoFit/>
          </a:bodyPr>
          <a:lstStyle/>
          <a:p>
            <a:pPr algn="ctr">
              <a:lnSpc>
                <a:spcPts val="2800"/>
              </a:lnSpc>
            </a:pPr>
            <a:r>
              <a:rPr lang="en-US" sz="2000" b="true">
                <a:solidFill>
                  <a:srgbClr val="000000"/>
                </a:solidFill>
                <a:latin typeface="Open Sans 1 Bold"/>
                <a:ea typeface="Open Sans 1 Bold"/>
                <a:cs typeface="Open Sans 1 Bold"/>
                <a:sym typeface="Open Sans 1 Bold"/>
              </a:rPr>
              <a:t>Interview Preparation</a:t>
            </a:r>
          </a:p>
          <a:p>
            <a:pPr algn="ctr">
              <a:lnSpc>
                <a:spcPts val="2800"/>
              </a:lnSpc>
            </a:pPr>
            <a:r>
              <a:rPr lang="en-US" sz="2000" b="true">
                <a:solidFill>
                  <a:srgbClr val="000000"/>
                </a:solidFill>
                <a:latin typeface="Open Sans 1 Bold"/>
                <a:ea typeface="Open Sans 1 Bold"/>
                <a:cs typeface="Open Sans 1 Bold"/>
                <a:sym typeface="Open Sans 1 Bold"/>
              </a:rPr>
              <a:t> Sessions</a:t>
            </a:r>
          </a:p>
          <a:p>
            <a:pPr algn="ctr">
              <a:lnSpc>
                <a:spcPts val="2800"/>
              </a:lnSpc>
            </a:pPr>
          </a:p>
          <a:p>
            <a:pPr algn="ctr">
              <a:lnSpc>
                <a:spcPts val="2800"/>
              </a:lnSpc>
            </a:pPr>
            <a:r>
              <a:rPr lang="en-US" sz="2000" b="true">
                <a:solidFill>
                  <a:srgbClr val="000000"/>
                </a:solidFill>
                <a:latin typeface="Open Sans 1 Bold"/>
                <a:ea typeface="Open Sans 1 Bold"/>
                <a:cs typeface="Open Sans 1 Bold"/>
                <a:sym typeface="Open Sans 1 Bold"/>
              </a:rPr>
              <a:t>Mid </a:t>
            </a:r>
          </a:p>
          <a:p>
            <a:pPr algn="ctr">
              <a:lnSpc>
                <a:spcPts val="2800"/>
              </a:lnSpc>
            </a:pPr>
            <a:r>
              <a:rPr lang="en-US" sz="2000" b="true">
                <a:solidFill>
                  <a:srgbClr val="000000"/>
                </a:solidFill>
                <a:latin typeface="Open Sans 1 Bold"/>
                <a:ea typeface="Open Sans 1 Bold"/>
                <a:cs typeface="Open Sans 1 Bold"/>
                <a:sym typeface="Open Sans 1 Bold"/>
              </a:rPr>
              <a:t>Assessments</a:t>
            </a:r>
            <a:r>
              <a:rPr lang="en-US" sz="2000" b="true">
                <a:solidFill>
                  <a:srgbClr val="000000"/>
                </a:solidFill>
                <a:latin typeface="Open Sans 1 Medium"/>
                <a:ea typeface="Open Sans 1 Medium"/>
                <a:cs typeface="Open Sans 1 Medium"/>
                <a:sym typeface="Open Sans 1 Medium"/>
              </a:rPr>
              <a:t> </a:t>
            </a:r>
          </a:p>
          <a:p>
            <a:pPr algn="ctr">
              <a:lnSpc>
                <a:spcPts val="2800"/>
              </a:lnSpc>
            </a:pPr>
          </a:p>
        </p:txBody>
      </p:sp>
      <p:sp>
        <p:nvSpPr>
          <p:cNvPr name="TextBox 69" id="69"/>
          <p:cNvSpPr txBox="true"/>
          <p:nvPr/>
        </p:nvSpPr>
        <p:spPr>
          <a:xfrm rot="0">
            <a:off x="12800647" y="4489317"/>
            <a:ext cx="2201199" cy="2463800"/>
          </a:xfrm>
          <a:prstGeom prst="rect">
            <a:avLst/>
          </a:prstGeom>
        </p:spPr>
        <p:txBody>
          <a:bodyPr anchor="t" rtlCol="false" tIns="0" lIns="0" bIns="0" rIns="0">
            <a:spAutoFit/>
          </a:bodyPr>
          <a:lstStyle/>
          <a:p>
            <a:pPr algn="ctr">
              <a:lnSpc>
                <a:spcPts val="2800"/>
              </a:lnSpc>
            </a:pPr>
            <a:r>
              <a:rPr lang="en-US" sz="2000" b="true">
                <a:solidFill>
                  <a:srgbClr val="000000"/>
                </a:solidFill>
                <a:latin typeface="Open Sans 1 Bold"/>
                <a:ea typeface="Open Sans 1 Bold"/>
                <a:cs typeface="Open Sans 1 Bold"/>
                <a:sym typeface="Open Sans 1 Bold"/>
              </a:rPr>
              <a:t>Communication Sessions </a:t>
            </a:r>
          </a:p>
          <a:p>
            <a:pPr algn="ctr">
              <a:lnSpc>
                <a:spcPts val="2800"/>
              </a:lnSpc>
            </a:pPr>
          </a:p>
          <a:p>
            <a:pPr algn="ctr">
              <a:lnSpc>
                <a:spcPts val="2800"/>
              </a:lnSpc>
            </a:pPr>
            <a:r>
              <a:rPr lang="en-US" sz="2000" b="true">
                <a:solidFill>
                  <a:srgbClr val="000000"/>
                </a:solidFill>
                <a:latin typeface="Canva Sans Bold"/>
                <a:ea typeface="Canva Sans Bold"/>
                <a:cs typeface="Canva Sans Bold"/>
                <a:sym typeface="Canva Sans Bold"/>
              </a:rPr>
              <a:t>Resume Preparation Sessions</a:t>
            </a:r>
          </a:p>
          <a:p>
            <a:pPr algn="ctr">
              <a:lnSpc>
                <a:spcPts val="2800"/>
              </a:lnSpc>
            </a:pPr>
          </a:p>
        </p:txBody>
      </p:sp>
      <p:sp>
        <p:nvSpPr>
          <p:cNvPr name="TextBox 70" id="70"/>
          <p:cNvSpPr txBox="true"/>
          <p:nvPr/>
        </p:nvSpPr>
        <p:spPr>
          <a:xfrm rot="0">
            <a:off x="16054994" y="4465426"/>
            <a:ext cx="2077374" cy="2111375"/>
          </a:xfrm>
          <a:prstGeom prst="rect">
            <a:avLst/>
          </a:prstGeom>
        </p:spPr>
        <p:txBody>
          <a:bodyPr anchor="t" rtlCol="false" tIns="0" lIns="0" bIns="0" rIns="0">
            <a:spAutoFit/>
          </a:bodyPr>
          <a:lstStyle/>
          <a:p>
            <a:pPr algn="ctr">
              <a:lnSpc>
                <a:spcPts val="2800"/>
              </a:lnSpc>
            </a:pPr>
            <a:r>
              <a:rPr lang="en-US" sz="2000" b="true">
                <a:solidFill>
                  <a:srgbClr val="000000"/>
                </a:solidFill>
                <a:latin typeface="Open Sans 1 Bold"/>
                <a:ea typeface="Open Sans 1 Bold"/>
                <a:cs typeface="Open Sans 1 Bold"/>
                <a:sym typeface="Open Sans 1 Bold"/>
              </a:rPr>
              <a:t>In-Placement Support </a:t>
            </a:r>
          </a:p>
          <a:p>
            <a:pPr algn="ctr">
              <a:lnSpc>
                <a:spcPts val="2800"/>
              </a:lnSpc>
            </a:pPr>
            <a:r>
              <a:rPr lang="en-US" sz="2000" b="true">
                <a:solidFill>
                  <a:srgbClr val="000000"/>
                </a:solidFill>
                <a:latin typeface="Open Sans 1 Bold"/>
                <a:ea typeface="Open Sans 1 Bold"/>
                <a:cs typeface="Open Sans 1 Bold"/>
                <a:sym typeface="Open Sans 1 Bold"/>
              </a:rPr>
              <a:t>(Adhoc - Session supporting students)</a:t>
            </a:r>
          </a:p>
          <a:p>
            <a:pPr algn="ctr">
              <a:lnSpc>
                <a:spcPts val="2800"/>
              </a:lnSpc>
            </a:pP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D9CFC2"/>
        </a:solidFill>
      </p:bgPr>
    </p:bg>
    <p:spTree>
      <p:nvGrpSpPr>
        <p:cNvPr id="1" name=""/>
        <p:cNvGrpSpPr/>
        <p:nvPr/>
      </p:nvGrpSpPr>
      <p:grpSpPr>
        <a:xfrm>
          <a:off x="0" y="0"/>
          <a:ext cx="0" cy="0"/>
          <a:chOff x="0" y="0"/>
          <a:chExt cx="0" cy="0"/>
        </a:xfrm>
      </p:grpSpPr>
      <p:grpSp>
        <p:nvGrpSpPr>
          <p:cNvPr name="Group 2" id="2"/>
          <p:cNvGrpSpPr/>
          <p:nvPr/>
        </p:nvGrpSpPr>
        <p:grpSpPr>
          <a:xfrm rot="0">
            <a:off x="4642156" y="-1150148"/>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BDB3A7"/>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0" y="0"/>
            <a:ext cx="12774411" cy="1275665"/>
            <a:chOff x="0" y="0"/>
            <a:chExt cx="17032548" cy="1700887"/>
          </a:xfrm>
        </p:grpSpPr>
        <p:sp>
          <p:nvSpPr>
            <p:cNvPr name="AutoShape 6" id="6"/>
            <p:cNvSpPr/>
            <p:nvPr/>
          </p:nvSpPr>
          <p:spPr>
            <a:xfrm rot="0">
              <a:off x="6244478" y="1133924"/>
              <a:ext cx="1133924" cy="566962"/>
            </a:xfrm>
            <a:prstGeom prst="rect">
              <a:avLst/>
            </a:prstGeom>
            <a:solidFill>
              <a:srgbClr val="188AB2"/>
            </a:solidFill>
          </p:spPr>
        </p:sp>
        <p:sp>
          <p:nvSpPr>
            <p:cNvPr name="AutoShape 7" id="7"/>
            <p:cNvSpPr/>
            <p:nvPr/>
          </p:nvSpPr>
          <p:spPr>
            <a:xfrm rot="0">
              <a:off x="8516274" y="1133924"/>
              <a:ext cx="1141818" cy="566962"/>
            </a:xfrm>
            <a:prstGeom prst="rect">
              <a:avLst/>
            </a:prstGeom>
            <a:solidFill>
              <a:srgbClr val="188AB2"/>
            </a:solidFill>
          </p:spPr>
        </p:sp>
        <p:sp>
          <p:nvSpPr>
            <p:cNvPr name="AutoShape 8" id="8"/>
            <p:cNvSpPr/>
            <p:nvPr/>
          </p:nvSpPr>
          <p:spPr>
            <a:xfrm rot="0">
              <a:off x="7949312" y="0"/>
              <a:ext cx="566962" cy="566962"/>
            </a:xfrm>
            <a:prstGeom prst="rect">
              <a:avLst/>
            </a:prstGeom>
            <a:solidFill>
              <a:srgbClr val="188AB2"/>
            </a:solidFill>
          </p:spPr>
        </p:sp>
        <p:sp>
          <p:nvSpPr>
            <p:cNvPr name="AutoShape 9" id="9"/>
            <p:cNvSpPr/>
            <p:nvPr/>
          </p:nvSpPr>
          <p:spPr>
            <a:xfrm rot="0">
              <a:off x="9654145" y="0"/>
              <a:ext cx="566962" cy="566962"/>
            </a:xfrm>
            <a:prstGeom prst="rect">
              <a:avLst/>
            </a:prstGeom>
            <a:solidFill>
              <a:srgbClr val="188AB2"/>
            </a:solidFill>
          </p:spPr>
        </p:sp>
        <p:sp>
          <p:nvSpPr>
            <p:cNvPr name="AutoShape 10" id="10"/>
            <p:cNvSpPr/>
            <p:nvPr/>
          </p:nvSpPr>
          <p:spPr>
            <a:xfrm rot="0">
              <a:off x="8512327" y="566962"/>
              <a:ext cx="566962" cy="566962"/>
            </a:xfrm>
            <a:prstGeom prst="rect">
              <a:avLst/>
            </a:prstGeom>
            <a:solidFill>
              <a:srgbClr val="FFFFFF"/>
            </a:solidFill>
          </p:spPr>
        </p:sp>
        <p:sp>
          <p:nvSpPr>
            <p:cNvPr name="AutoShape 11" id="11"/>
            <p:cNvSpPr/>
            <p:nvPr/>
          </p:nvSpPr>
          <p:spPr>
            <a:xfrm rot="0">
              <a:off x="7949312" y="1133924"/>
              <a:ext cx="566962" cy="566962"/>
            </a:xfrm>
            <a:prstGeom prst="rect">
              <a:avLst/>
            </a:prstGeom>
            <a:solidFill>
              <a:srgbClr val="FFFFFF"/>
            </a:solidFill>
          </p:spPr>
        </p:sp>
        <p:sp>
          <p:nvSpPr>
            <p:cNvPr name="AutoShape 12" id="12"/>
            <p:cNvSpPr/>
            <p:nvPr/>
          </p:nvSpPr>
          <p:spPr>
            <a:xfrm rot="0">
              <a:off x="6811440" y="0"/>
              <a:ext cx="566962" cy="566962"/>
            </a:xfrm>
            <a:prstGeom prst="rect">
              <a:avLst/>
            </a:prstGeom>
            <a:solidFill>
              <a:srgbClr val="FFFFFF"/>
            </a:solidFill>
          </p:spPr>
        </p:sp>
        <p:sp>
          <p:nvSpPr>
            <p:cNvPr name="AutoShape 13" id="13"/>
            <p:cNvSpPr/>
            <p:nvPr/>
          </p:nvSpPr>
          <p:spPr>
            <a:xfrm rot="0">
              <a:off x="10788070" y="566962"/>
              <a:ext cx="566962" cy="566962"/>
            </a:xfrm>
            <a:prstGeom prst="rect">
              <a:avLst/>
            </a:prstGeom>
            <a:solidFill>
              <a:srgbClr val="188AB2"/>
            </a:solidFill>
          </p:spPr>
        </p:sp>
        <p:sp>
          <p:nvSpPr>
            <p:cNvPr name="AutoShape 14" id="14"/>
            <p:cNvSpPr/>
            <p:nvPr/>
          </p:nvSpPr>
          <p:spPr>
            <a:xfrm rot="0">
              <a:off x="10221107" y="566962"/>
              <a:ext cx="566962" cy="566962"/>
            </a:xfrm>
            <a:prstGeom prst="rect">
              <a:avLst/>
            </a:prstGeom>
            <a:solidFill>
              <a:srgbClr val="FFFFFF"/>
            </a:solidFill>
          </p:spPr>
        </p:sp>
        <p:sp>
          <p:nvSpPr>
            <p:cNvPr name="AutoShape 15" id="15"/>
            <p:cNvSpPr/>
            <p:nvPr/>
          </p:nvSpPr>
          <p:spPr>
            <a:xfrm rot="0">
              <a:off x="5677516" y="566962"/>
              <a:ext cx="1133924" cy="566962"/>
            </a:xfrm>
            <a:prstGeom prst="rect">
              <a:avLst/>
            </a:prstGeom>
            <a:solidFill>
              <a:srgbClr val="FFFFFF"/>
            </a:solidFill>
          </p:spPr>
        </p:sp>
        <p:sp>
          <p:nvSpPr>
            <p:cNvPr name="AutoShape 16" id="16"/>
            <p:cNvSpPr/>
            <p:nvPr/>
          </p:nvSpPr>
          <p:spPr>
            <a:xfrm rot="0">
              <a:off x="566962" y="1133924"/>
              <a:ext cx="1133924" cy="566962"/>
            </a:xfrm>
            <a:prstGeom prst="rect">
              <a:avLst/>
            </a:prstGeom>
            <a:solidFill>
              <a:srgbClr val="188AB2"/>
            </a:solidFill>
          </p:spPr>
        </p:sp>
        <p:sp>
          <p:nvSpPr>
            <p:cNvPr name="AutoShape 17" id="17"/>
            <p:cNvSpPr/>
            <p:nvPr/>
          </p:nvSpPr>
          <p:spPr>
            <a:xfrm rot="0">
              <a:off x="2838758" y="1133924"/>
              <a:ext cx="1141818" cy="566962"/>
            </a:xfrm>
            <a:prstGeom prst="rect">
              <a:avLst/>
            </a:prstGeom>
            <a:solidFill>
              <a:srgbClr val="188AB2"/>
            </a:solidFill>
          </p:spPr>
        </p:sp>
        <p:sp>
          <p:nvSpPr>
            <p:cNvPr name="AutoShape 18" id="18"/>
            <p:cNvSpPr/>
            <p:nvPr/>
          </p:nvSpPr>
          <p:spPr>
            <a:xfrm rot="0">
              <a:off x="2271796" y="0"/>
              <a:ext cx="566962" cy="566962"/>
            </a:xfrm>
            <a:prstGeom prst="rect">
              <a:avLst/>
            </a:prstGeom>
            <a:solidFill>
              <a:srgbClr val="188AB2"/>
            </a:solidFill>
          </p:spPr>
        </p:sp>
        <p:sp>
          <p:nvSpPr>
            <p:cNvPr name="AutoShape 19" id="19"/>
            <p:cNvSpPr/>
            <p:nvPr/>
          </p:nvSpPr>
          <p:spPr>
            <a:xfrm rot="0">
              <a:off x="3976629" y="0"/>
              <a:ext cx="566962" cy="566962"/>
            </a:xfrm>
            <a:prstGeom prst="rect">
              <a:avLst/>
            </a:prstGeom>
            <a:solidFill>
              <a:srgbClr val="188AB2"/>
            </a:solidFill>
          </p:spPr>
        </p:sp>
        <p:sp>
          <p:nvSpPr>
            <p:cNvPr name="AutoShape 20" id="20"/>
            <p:cNvSpPr/>
            <p:nvPr/>
          </p:nvSpPr>
          <p:spPr>
            <a:xfrm rot="0">
              <a:off x="2834811" y="566962"/>
              <a:ext cx="566962" cy="566962"/>
            </a:xfrm>
            <a:prstGeom prst="rect">
              <a:avLst/>
            </a:prstGeom>
            <a:solidFill>
              <a:srgbClr val="FFFFFF"/>
            </a:solidFill>
          </p:spPr>
        </p:sp>
        <p:sp>
          <p:nvSpPr>
            <p:cNvPr name="AutoShape 21" id="21"/>
            <p:cNvSpPr/>
            <p:nvPr/>
          </p:nvSpPr>
          <p:spPr>
            <a:xfrm rot="0">
              <a:off x="2271796" y="1133924"/>
              <a:ext cx="566962" cy="566962"/>
            </a:xfrm>
            <a:prstGeom prst="rect">
              <a:avLst/>
            </a:prstGeom>
            <a:solidFill>
              <a:srgbClr val="FFFFFF"/>
            </a:solidFill>
          </p:spPr>
        </p:sp>
        <p:sp>
          <p:nvSpPr>
            <p:cNvPr name="AutoShape 22" id="22"/>
            <p:cNvSpPr/>
            <p:nvPr/>
          </p:nvSpPr>
          <p:spPr>
            <a:xfrm rot="0">
              <a:off x="1133924" y="0"/>
              <a:ext cx="566962" cy="566962"/>
            </a:xfrm>
            <a:prstGeom prst="rect">
              <a:avLst/>
            </a:prstGeom>
            <a:solidFill>
              <a:srgbClr val="FFFFFF"/>
            </a:solidFill>
          </p:spPr>
        </p:sp>
        <p:sp>
          <p:nvSpPr>
            <p:cNvPr name="AutoShape 23" id="23"/>
            <p:cNvSpPr/>
            <p:nvPr/>
          </p:nvSpPr>
          <p:spPr>
            <a:xfrm rot="0">
              <a:off x="5110554" y="566962"/>
              <a:ext cx="566962" cy="566962"/>
            </a:xfrm>
            <a:prstGeom prst="rect">
              <a:avLst/>
            </a:prstGeom>
            <a:solidFill>
              <a:srgbClr val="188AB2"/>
            </a:solidFill>
          </p:spPr>
        </p:sp>
        <p:sp>
          <p:nvSpPr>
            <p:cNvPr name="AutoShape 24" id="24"/>
            <p:cNvSpPr/>
            <p:nvPr/>
          </p:nvSpPr>
          <p:spPr>
            <a:xfrm rot="0">
              <a:off x="4543591" y="566962"/>
              <a:ext cx="566962" cy="566962"/>
            </a:xfrm>
            <a:prstGeom prst="rect">
              <a:avLst/>
            </a:prstGeom>
            <a:solidFill>
              <a:srgbClr val="FFFFFF"/>
            </a:solidFill>
          </p:spPr>
        </p:sp>
        <p:sp>
          <p:nvSpPr>
            <p:cNvPr name="AutoShape 25" id="25"/>
            <p:cNvSpPr/>
            <p:nvPr/>
          </p:nvSpPr>
          <p:spPr>
            <a:xfrm rot="0">
              <a:off x="0" y="566962"/>
              <a:ext cx="1133924" cy="566962"/>
            </a:xfrm>
            <a:prstGeom prst="rect">
              <a:avLst/>
            </a:prstGeom>
            <a:solidFill>
              <a:srgbClr val="FFFFFF"/>
            </a:solidFill>
          </p:spPr>
        </p:sp>
        <p:sp>
          <p:nvSpPr>
            <p:cNvPr name="AutoShape 26" id="26"/>
            <p:cNvSpPr/>
            <p:nvPr/>
          </p:nvSpPr>
          <p:spPr>
            <a:xfrm rot="0">
              <a:off x="11921994" y="1133924"/>
              <a:ext cx="1133924" cy="566962"/>
            </a:xfrm>
            <a:prstGeom prst="rect">
              <a:avLst/>
            </a:prstGeom>
            <a:solidFill>
              <a:srgbClr val="188AB2"/>
            </a:solidFill>
          </p:spPr>
        </p:sp>
        <p:sp>
          <p:nvSpPr>
            <p:cNvPr name="AutoShape 27" id="27"/>
            <p:cNvSpPr/>
            <p:nvPr/>
          </p:nvSpPr>
          <p:spPr>
            <a:xfrm rot="0">
              <a:off x="14193790" y="1133924"/>
              <a:ext cx="1141818" cy="566962"/>
            </a:xfrm>
            <a:prstGeom prst="rect">
              <a:avLst/>
            </a:prstGeom>
            <a:solidFill>
              <a:srgbClr val="188AB2"/>
            </a:solidFill>
          </p:spPr>
        </p:sp>
        <p:sp>
          <p:nvSpPr>
            <p:cNvPr name="AutoShape 28" id="28"/>
            <p:cNvSpPr/>
            <p:nvPr/>
          </p:nvSpPr>
          <p:spPr>
            <a:xfrm rot="0">
              <a:off x="13626828" y="0"/>
              <a:ext cx="566962" cy="566962"/>
            </a:xfrm>
            <a:prstGeom prst="rect">
              <a:avLst/>
            </a:prstGeom>
            <a:solidFill>
              <a:srgbClr val="188AB2"/>
            </a:solidFill>
          </p:spPr>
        </p:sp>
        <p:sp>
          <p:nvSpPr>
            <p:cNvPr name="AutoShape 29" id="29"/>
            <p:cNvSpPr/>
            <p:nvPr/>
          </p:nvSpPr>
          <p:spPr>
            <a:xfrm rot="0">
              <a:off x="15331661" y="0"/>
              <a:ext cx="566962" cy="566962"/>
            </a:xfrm>
            <a:prstGeom prst="rect">
              <a:avLst/>
            </a:prstGeom>
            <a:solidFill>
              <a:srgbClr val="188AB2"/>
            </a:solidFill>
          </p:spPr>
        </p:sp>
        <p:sp>
          <p:nvSpPr>
            <p:cNvPr name="AutoShape 30" id="30"/>
            <p:cNvSpPr/>
            <p:nvPr/>
          </p:nvSpPr>
          <p:spPr>
            <a:xfrm rot="0">
              <a:off x="14189843" y="566962"/>
              <a:ext cx="566962" cy="566962"/>
            </a:xfrm>
            <a:prstGeom prst="rect">
              <a:avLst/>
            </a:prstGeom>
            <a:solidFill>
              <a:srgbClr val="FFFFFF"/>
            </a:solidFill>
          </p:spPr>
        </p:sp>
        <p:sp>
          <p:nvSpPr>
            <p:cNvPr name="AutoShape 31" id="31"/>
            <p:cNvSpPr/>
            <p:nvPr/>
          </p:nvSpPr>
          <p:spPr>
            <a:xfrm rot="0">
              <a:off x="13626828" y="1133924"/>
              <a:ext cx="566962" cy="566962"/>
            </a:xfrm>
            <a:prstGeom prst="rect">
              <a:avLst/>
            </a:prstGeom>
            <a:solidFill>
              <a:srgbClr val="FFFFFF"/>
            </a:solidFill>
          </p:spPr>
        </p:sp>
        <p:sp>
          <p:nvSpPr>
            <p:cNvPr name="AutoShape 32" id="32"/>
            <p:cNvSpPr/>
            <p:nvPr/>
          </p:nvSpPr>
          <p:spPr>
            <a:xfrm rot="0">
              <a:off x="12488956" y="0"/>
              <a:ext cx="566962" cy="566962"/>
            </a:xfrm>
            <a:prstGeom prst="rect">
              <a:avLst/>
            </a:prstGeom>
            <a:solidFill>
              <a:srgbClr val="FFFFFF"/>
            </a:solidFill>
          </p:spPr>
        </p:sp>
        <p:sp>
          <p:nvSpPr>
            <p:cNvPr name="AutoShape 33" id="33"/>
            <p:cNvSpPr/>
            <p:nvPr/>
          </p:nvSpPr>
          <p:spPr>
            <a:xfrm rot="0">
              <a:off x="16465586" y="566962"/>
              <a:ext cx="566962" cy="566962"/>
            </a:xfrm>
            <a:prstGeom prst="rect">
              <a:avLst/>
            </a:prstGeom>
            <a:solidFill>
              <a:srgbClr val="188AB2"/>
            </a:solidFill>
          </p:spPr>
        </p:sp>
        <p:sp>
          <p:nvSpPr>
            <p:cNvPr name="AutoShape 34" id="34"/>
            <p:cNvSpPr/>
            <p:nvPr/>
          </p:nvSpPr>
          <p:spPr>
            <a:xfrm rot="0">
              <a:off x="15898623" y="566962"/>
              <a:ext cx="566962" cy="566962"/>
            </a:xfrm>
            <a:prstGeom prst="rect">
              <a:avLst/>
            </a:prstGeom>
            <a:solidFill>
              <a:srgbClr val="FFFFFF"/>
            </a:solidFill>
          </p:spPr>
        </p:sp>
        <p:sp>
          <p:nvSpPr>
            <p:cNvPr name="AutoShape 35" id="35"/>
            <p:cNvSpPr/>
            <p:nvPr/>
          </p:nvSpPr>
          <p:spPr>
            <a:xfrm rot="0">
              <a:off x="11355032" y="566962"/>
              <a:ext cx="1133924" cy="566962"/>
            </a:xfrm>
            <a:prstGeom prst="rect">
              <a:avLst/>
            </a:prstGeom>
            <a:solidFill>
              <a:srgbClr val="FFFFFF"/>
            </a:solidFill>
          </p:spPr>
        </p:sp>
      </p:grpSp>
      <p:grpSp>
        <p:nvGrpSpPr>
          <p:cNvPr name="Group 36" id="36"/>
          <p:cNvGrpSpPr/>
          <p:nvPr/>
        </p:nvGrpSpPr>
        <p:grpSpPr>
          <a:xfrm rot="0">
            <a:off x="12774411" y="0"/>
            <a:ext cx="12774411" cy="1275665"/>
            <a:chOff x="0" y="0"/>
            <a:chExt cx="17032548" cy="1700887"/>
          </a:xfrm>
        </p:grpSpPr>
        <p:sp>
          <p:nvSpPr>
            <p:cNvPr name="AutoShape 37" id="37"/>
            <p:cNvSpPr/>
            <p:nvPr/>
          </p:nvSpPr>
          <p:spPr>
            <a:xfrm rot="0">
              <a:off x="6244478" y="1133924"/>
              <a:ext cx="1133924" cy="566962"/>
            </a:xfrm>
            <a:prstGeom prst="rect">
              <a:avLst/>
            </a:prstGeom>
            <a:solidFill>
              <a:srgbClr val="188AB2"/>
            </a:solidFill>
          </p:spPr>
        </p:sp>
        <p:sp>
          <p:nvSpPr>
            <p:cNvPr name="AutoShape 38" id="38"/>
            <p:cNvSpPr/>
            <p:nvPr/>
          </p:nvSpPr>
          <p:spPr>
            <a:xfrm rot="0">
              <a:off x="8516274" y="1133924"/>
              <a:ext cx="1141818" cy="566962"/>
            </a:xfrm>
            <a:prstGeom prst="rect">
              <a:avLst/>
            </a:prstGeom>
            <a:solidFill>
              <a:srgbClr val="188AB2"/>
            </a:solidFill>
          </p:spPr>
        </p:sp>
        <p:sp>
          <p:nvSpPr>
            <p:cNvPr name="AutoShape 39" id="39"/>
            <p:cNvSpPr/>
            <p:nvPr/>
          </p:nvSpPr>
          <p:spPr>
            <a:xfrm rot="0">
              <a:off x="7949312" y="0"/>
              <a:ext cx="566962" cy="566962"/>
            </a:xfrm>
            <a:prstGeom prst="rect">
              <a:avLst/>
            </a:prstGeom>
            <a:solidFill>
              <a:srgbClr val="188AB2"/>
            </a:solidFill>
          </p:spPr>
        </p:sp>
        <p:sp>
          <p:nvSpPr>
            <p:cNvPr name="AutoShape 40" id="40"/>
            <p:cNvSpPr/>
            <p:nvPr/>
          </p:nvSpPr>
          <p:spPr>
            <a:xfrm rot="0">
              <a:off x="9654145" y="0"/>
              <a:ext cx="566962" cy="566962"/>
            </a:xfrm>
            <a:prstGeom prst="rect">
              <a:avLst/>
            </a:prstGeom>
            <a:solidFill>
              <a:srgbClr val="188AB2"/>
            </a:solidFill>
          </p:spPr>
        </p:sp>
        <p:sp>
          <p:nvSpPr>
            <p:cNvPr name="AutoShape 41" id="41"/>
            <p:cNvSpPr/>
            <p:nvPr/>
          </p:nvSpPr>
          <p:spPr>
            <a:xfrm rot="0">
              <a:off x="8512327" y="566962"/>
              <a:ext cx="566962" cy="566962"/>
            </a:xfrm>
            <a:prstGeom prst="rect">
              <a:avLst/>
            </a:prstGeom>
            <a:solidFill>
              <a:srgbClr val="FFFFFF"/>
            </a:solidFill>
          </p:spPr>
        </p:sp>
        <p:sp>
          <p:nvSpPr>
            <p:cNvPr name="AutoShape 42" id="42"/>
            <p:cNvSpPr/>
            <p:nvPr/>
          </p:nvSpPr>
          <p:spPr>
            <a:xfrm rot="0">
              <a:off x="7949312" y="1133924"/>
              <a:ext cx="566962" cy="566962"/>
            </a:xfrm>
            <a:prstGeom prst="rect">
              <a:avLst/>
            </a:prstGeom>
            <a:solidFill>
              <a:srgbClr val="FFFFFF"/>
            </a:solidFill>
          </p:spPr>
        </p:sp>
        <p:sp>
          <p:nvSpPr>
            <p:cNvPr name="AutoShape 43" id="43"/>
            <p:cNvSpPr/>
            <p:nvPr/>
          </p:nvSpPr>
          <p:spPr>
            <a:xfrm rot="0">
              <a:off x="6811440" y="0"/>
              <a:ext cx="566962" cy="566962"/>
            </a:xfrm>
            <a:prstGeom prst="rect">
              <a:avLst/>
            </a:prstGeom>
            <a:solidFill>
              <a:srgbClr val="FFFFFF"/>
            </a:solidFill>
          </p:spPr>
        </p:sp>
        <p:sp>
          <p:nvSpPr>
            <p:cNvPr name="AutoShape 44" id="44"/>
            <p:cNvSpPr/>
            <p:nvPr/>
          </p:nvSpPr>
          <p:spPr>
            <a:xfrm rot="0">
              <a:off x="10788070" y="566962"/>
              <a:ext cx="566962" cy="566962"/>
            </a:xfrm>
            <a:prstGeom prst="rect">
              <a:avLst/>
            </a:prstGeom>
            <a:solidFill>
              <a:srgbClr val="188AB2"/>
            </a:solidFill>
          </p:spPr>
        </p:sp>
        <p:sp>
          <p:nvSpPr>
            <p:cNvPr name="AutoShape 45" id="45"/>
            <p:cNvSpPr/>
            <p:nvPr/>
          </p:nvSpPr>
          <p:spPr>
            <a:xfrm rot="0">
              <a:off x="10221107" y="566962"/>
              <a:ext cx="566962" cy="566962"/>
            </a:xfrm>
            <a:prstGeom prst="rect">
              <a:avLst/>
            </a:prstGeom>
            <a:solidFill>
              <a:srgbClr val="FFFFFF"/>
            </a:solidFill>
          </p:spPr>
        </p:sp>
        <p:sp>
          <p:nvSpPr>
            <p:cNvPr name="AutoShape 46" id="46"/>
            <p:cNvSpPr/>
            <p:nvPr/>
          </p:nvSpPr>
          <p:spPr>
            <a:xfrm rot="0">
              <a:off x="5677516" y="566962"/>
              <a:ext cx="1133924" cy="566962"/>
            </a:xfrm>
            <a:prstGeom prst="rect">
              <a:avLst/>
            </a:prstGeom>
            <a:solidFill>
              <a:srgbClr val="FFFFFF"/>
            </a:solidFill>
          </p:spPr>
        </p:sp>
        <p:sp>
          <p:nvSpPr>
            <p:cNvPr name="AutoShape 47" id="47"/>
            <p:cNvSpPr/>
            <p:nvPr/>
          </p:nvSpPr>
          <p:spPr>
            <a:xfrm rot="0">
              <a:off x="566962" y="1133924"/>
              <a:ext cx="1133924" cy="566962"/>
            </a:xfrm>
            <a:prstGeom prst="rect">
              <a:avLst/>
            </a:prstGeom>
            <a:solidFill>
              <a:srgbClr val="188AB2"/>
            </a:solidFill>
          </p:spPr>
        </p:sp>
        <p:sp>
          <p:nvSpPr>
            <p:cNvPr name="AutoShape 48" id="48"/>
            <p:cNvSpPr/>
            <p:nvPr/>
          </p:nvSpPr>
          <p:spPr>
            <a:xfrm rot="0">
              <a:off x="2838758" y="1133924"/>
              <a:ext cx="1141818" cy="566962"/>
            </a:xfrm>
            <a:prstGeom prst="rect">
              <a:avLst/>
            </a:prstGeom>
            <a:solidFill>
              <a:srgbClr val="188AB2"/>
            </a:solidFill>
          </p:spPr>
        </p:sp>
        <p:sp>
          <p:nvSpPr>
            <p:cNvPr name="AutoShape 49" id="49"/>
            <p:cNvSpPr/>
            <p:nvPr/>
          </p:nvSpPr>
          <p:spPr>
            <a:xfrm rot="0">
              <a:off x="2271796" y="0"/>
              <a:ext cx="566962" cy="566962"/>
            </a:xfrm>
            <a:prstGeom prst="rect">
              <a:avLst/>
            </a:prstGeom>
            <a:solidFill>
              <a:srgbClr val="188AB2"/>
            </a:solidFill>
          </p:spPr>
        </p:sp>
        <p:sp>
          <p:nvSpPr>
            <p:cNvPr name="AutoShape 50" id="50"/>
            <p:cNvSpPr/>
            <p:nvPr/>
          </p:nvSpPr>
          <p:spPr>
            <a:xfrm rot="0">
              <a:off x="3976629" y="0"/>
              <a:ext cx="566962" cy="566962"/>
            </a:xfrm>
            <a:prstGeom prst="rect">
              <a:avLst/>
            </a:prstGeom>
            <a:solidFill>
              <a:srgbClr val="188AB2"/>
            </a:solidFill>
          </p:spPr>
        </p:sp>
        <p:sp>
          <p:nvSpPr>
            <p:cNvPr name="AutoShape 51" id="51"/>
            <p:cNvSpPr/>
            <p:nvPr/>
          </p:nvSpPr>
          <p:spPr>
            <a:xfrm rot="0">
              <a:off x="2834811" y="566962"/>
              <a:ext cx="566962" cy="566962"/>
            </a:xfrm>
            <a:prstGeom prst="rect">
              <a:avLst/>
            </a:prstGeom>
            <a:solidFill>
              <a:srgbClr val="FFFFFF"/>
            </a:solidFill>
          </p:spPr>
        </p:sp>
        <p:sp>
          <p:nvSpPr>
            <p:cNvPr name="AutoShape 52" id="52"/>
            <p:cNvSpPr/>
            <p:nvPr/>
          </p:nvSpPr>
          <p:spPr>
            <a:xfrm rot="0">
              <a:off x="2271796" y="1133924"/>
              <a:ext cx="566962" cy="566962"/>
            </a:xfrm>
            <a:prstGeom prst="rect">
              <a:avLst/>
            </a:prstGeom>
            <a:solidFill>
              <a:srgbClr val="FFFFFF"/>
            </a:solidFill>
          </p:spPr>
        </p:sp>
        <p:sp>
          <p:nvSpPr>
            <p:cNvPr name="AutoShape 53" id="53"/>
            <p:cNvSpPr/>
            <p:nvPr/>
          </p:nvSpPr>
          <p:spPr>
            <a:xfrm rot="0">
              <a:off x="1133924" y="0"/>
              <a:ext cx="566962" cy="566962"/>
            </a:xfrm>
            <a:prstGeom prst="rect">
              <a:avLst/>
            </a:prstGeom>
            <a:solidFill>
              <a:srgbClr val="FFFFFF"/>
            </a:solidFill>
          </p:spPr>
        </p:sp>
        <p:sp>
          <p:nvSpPr>
            <p:cNvPr name="AutoShape 54" id="54"/>
            <p:cNvSpPr/>
            <p:nvPr/>
          </p:nvSpPr>
          <p:spPr>
            <a:xfrm rot="0">
              <a:off x="5110554" y="566962"/>
              <a:ext cx="566962" cy="566962"/>
            </a:xfrm>
            <a:prstGeom prst="rect">
              <a:avLst/>
            </a:prstGeom>
            <a:solidFill>
              <a:srgbClr val="188AB2"/>
            </a:solidFill>
          </p:spPr>
        </p:sp>
        <p:sp>
          <p:nvSpPr>
            <p:cNvPr name="AutoShape 55" id="55"/>
            <p:cNvSpPr/>
            <p:nvPr/>
          </p:nvSpPr>
          <p:spPr>
            <a:xfrm rot="0">
              <a:off x="4543591" y="566962"/>
              <a:ext cx="566962" cy="566962"/>
            </a:xfrm>
            <a:prstGeom prst="rect">
              <a:avLst/>
            </a:prstGeom>
            <a:solidFill>
              <a:srgbClr val="FFFFFF"/>
            </a:solidFill>
          </p:spPr>
        </p:sp>
        <p:sp>
          <p:nvSpPr>
            <p:cNvPr name="AutoShape 56" id="56"/>
            <p:cNvSpPr/>
            <p:nvPr/>
          </p:nvSpPr>
          <p:spPr>
            <a:xfrm rot="0">
              <a:off x="0" y="566962"/>
              <a:ext cx="1133924" cy="566962"/>
            </a:xfrm>
            <a:prstGeom prst="rect">
              <a:avLst/>
            </a:prstGeom>
            <a:solidFill>
              <a:srgbClr val="FFFFFF"/>
            </a:solidFill>
          </p:spPr>
        </p:sp>
        <p:sp>
          <p:nvSpPr>
            <p:cNvPr name="AutoShape 57" id="57"/>
            <p:cNvSpPr/>
            <p:nvPr/>
          </p:nvSpPr>
          <p:spPr>
            <a:xfrm rot="0">
              <a:off x="11921994" y="1133924"/>
              <a:ext cx="1133924" cy="566962"/>
            </a:xfrm>
            <a:prstGeom prst="rect">
              <a:avLst/>
            </a:prstGeom>
            <a:solidFill>
              <a:srgbClr val="188AB2"/>
            </a:solidFill>
          </p:spPr>
        </p:sp>
        <p:sp>
          <p:nvSpPr>
            <p:cNvPr name="AutoShape 58" id="58"/>
            <p:cNvSpPr/>
            <p:nvPr/>
          </p:nvSpPr>
          <p:spPr>
            <a:xfrm rot="0">
              <a:off x="14193790" y="1133924"/>
              <a:ext cx="1141818" cy="566962"/>
            </a:xfrm>
            <a:prstGeom prst="rect">
              <a:avLst/>
            </a:prstGeom>
            <a:solidFill>
              <a:srgbClr val="188AB2"/>
            </a:solidFill>
          </p:spPr>
        </p:sp>
        <p:sp>
          <p:nvSpPr>
            <p:cNvPr name="AutoShape 59" id="59"/>
            <p:cNvSpPr/>
            <p:nvPr/>
          </p:nvSpPr>
          <p:spPr>
            <a:xfrm rot="0">
              <a:off x="13626828" y="0"/>
              <a:ext cx="566962" cy="566962"/>
            </a:xfrm>
            <a:prstGeom prst="rect">
              <a:avLst/>
            </a:prstGeom>
            <a:solidFill>
              <a:srgbClr val="188AB2"/>
            </a:solidFill>
          </p:spPr>
        </p:sp>
        <p:sp>
          <p:nvSpPr>
            <p:cNvPr name="AutoShape 60" id="60"/>
            <p:cNvSpPr/>
            <p:nvPr/>
          </p:nvSpPr>
          <p:spPr>
            <a:xfrm rot="0">
              <a:off x="15331661" y="0"/>
              <a:ext cx="566962" cy="566962"/>
            </a:xfrm>
            <a:prstGeom prst="rect">
              <a:avLst/>
            </a:prstGeom>
            <a:solidFill>
              <a:srgbClr val="188AB2"/>
            </a:solidFill>
          </p:spPr>
        </p:sp>
        <p:sp>
          <p:nvSpPr>
            <p:cNvPr name="AutoShape 61" id="61"/>
            <p:cNvSpPr/>
            <p:nvPr/>
          </p:nvSpPr>
          <p:spPr>
            <a:xfrm rot="0">
              <a:off x="14189843" y="566962"/>
              <a:ext cx="566962" cy="566962"/>
            </a:xfrm>
            <a:prstGeom prst="rect">
              <a:avLst/>
            </a:prstGeom>
            <a:solidFill>
              <a:srgbClr val="FFFFFF"/>
            </a:solidFill>
          </p:spPr>
        </p:sp>
        <p:sp>
          <p:nvSpPr>
            <p:cNvPr name="AutoShape 62" id="62"/>
            <p:cNvSpPr/>
            <p:nvPr/>
          </p:nvSpPr>
          <p:spPr>
            <a:xfrm rot="0">
              <a:off x="13626828" y="1133924"/>
              <a:ext cx="566962" cy="566962"/>
            </a:xfrm>
            <a:prstGeom prst="rect">
              <a:avLst/>
            </a:prstGeom>
            <a:solidFill>
              <a:srgbClr val="FFFFFF"/>
            </a:solidFill>
          </p:spPr>
        </p:sp>
        <p:sp>
          <p:nvSpPr>
            <p:cNvPr name="AutoShape 63" id="63"/>
            <p:cNvSpPr/>
            <p:nvPr/>
          </p:nvSpPr>
          <p:spPr>
            <a:xfrm rot="0">
              <a:off x="12488956" y="0"/>
              <a:ext cx="566962" cy="566962"/>
            </a:xfrm>
            <a:prstGeom prst="rect">
              <a:avLst/>
            </a:prstGeom>
            <a:solidFill>
              <a:srgbClr val="FFFFFF"/>
            </a:solidFill>
          </p:spPr>
        </p:sp>
        <p:sp>
          <p:nvSpPr>
            <p:cNvPr name="AutoShape 64" id="64"/>
            <p:cNvSpPr/>
            <p:nvPr/>
          </p:nvSpPr>
          <p:spPr>
            <a:xfrm rot="0">
              <a:off x="16465586" y="566962"/>
              <a:ext cx="566962" cy="566962"/>
            </a:xfrm>
            <a:prstGeom prst="rect">
              <a:avLst/>
            </a:prstGeom>
            <a:solidFill>
              <a:srgbClr val="188AB2"/>
            </a:solidFill>
          </p:spPr>
        </p:sp>
        <p:sp>
          <p:nvSpPr>
            <p:cNvPr name="AutoShape 65" id="65"/>
            <p:cNvSpPr/>
            <p:nvPr/>
          </p:nvSpPr>
          <p:spPr>
            <a:xfrm rot="0">
              <a:off x="15898623" y="566962"/>
              <a:ext cx="566962" cy="566962"/>
            </a:xfrm>
            <a:prstGeom prst="rect">
              <a:avLst/>
            </a:prstGeom>
            <a:solidFill>
              <a:srgbClr val="FFFFFF"/>
            </a:solidFill>
          </p:spPr>
        </p:sp>
        <p:sp>
          <p:nvSpPr>
            <p:cNvPr name="AutoShape 66" id="66"/>
            <p:cNvSpPr/>
            <p:nvPr/>
          </p:nvSpPr>
          <p:spPr>
            <a:xfrm rot="0">
              <a:off x="11355032" y="566962"/>
              <a:ext cx="1133924" cy="566962"/>
            </a:xfrm>
            <a:prstGeom prst="rect">
              <a:avLst/>
            </a:prstGeom>
            <a:solidFill>
              <a:srgbClr val="FFFFFF"/>
            </a:solidFill>
          </p:spPr>
        </p:sp>
      </p:grpSp>
      <p:grpSp>
        <p:nvGrpSpPr>
          <p:cNvPr name="Group 67" id="67"/>
          <p:cNvGrpSpPr/>
          <p:nvPr/>
        </p:nvGrpSpPr>
        <p:grpSpPr>
          <a:xfrm rot="0">
            <a:off x="1028700" y="2551671"/>
            <a:ext cx="16230600" cy="2268357"/>
            <a:chOff x="0" y="0"/>
            <a:chExt cx="21640800" cy="3024477"/>
          </a:xfrm>
        </p:grpSpPr>
        <p:sp>
          <p:nvSpPr>
            <p:cNvPr name="TextBox 68" id="68"/>
            <p:cNvSpPr txBox="true"/>
            <p:nvPr/>
          </p:nvSpPr>
          <p:spPr>
            <a:xfrm rot="0">
              <a:off x="0" y="0"/>
              <a:ext cx="21640800" cy="1409700"/>
            </a:xfrm>
            <a:prstGeom prst="rect">
              <a:avLst/>
            </a:prstGeom>
          </p:spPr>
          <p:txBody>
            <a:bodyPr anchor="t" rtlCol="false" tIns="0" lIns="0" bIns="0" rIns="0">
              <a:spAutoFit/>
            </a:bodyPr>
            <a:lstStyle/>
            <a:p>
              <a:pPr algn="ctr" marL="0" indent="0" lvl="0">
                <a:lnSpc>
                  <a:spcPts val="8399"/>
                </a:lnSpc>
              </a:pPr>
              <a:r>
                <a:rPr lang="en-US" b="true" sz="6999" u="none">
                  <a:solidFill>
                    <a:srgbClr val="000000"/>
                  </a:solidFill>
                  <a:latin typeface="Inter Bold"/>
                  <a:ea typeface="Inter Bold"/>
                  <a:cs typeface="Inter Bold"/>
                  <a:sym typeface="Inter Bold"/>
                </a:rPr>
                <a:t>COMPARING STEPSMART TRAINING</a:t>
              </a:r>
            </a:p>
          </p:txBody>
        </p:sp>
        <p:sp>
          <p:nvSpPr>
            <p:cNvPr name="TextBox 69" id="69"/>
            <p:cNvSpPr txBox="true"/>
            <p:nvPr/>
          </p:nvSpPr>
          <p:spPr>
            <a:xfrm rot="0">
              <a:off x="1823861" y="2010643"/>
              <a:ext cx="17993079" cy="1013833"/>
            </a:xfrm>
            <a:prstGeom prst="rect">
              <a:avLst/>
            </a:prstGeom>
          </p:spPr>
          <p:txBody>
            <a:bodyPr anchor="t" rtlCol="false" tIns="0" lIns="0" bIns="0" rIns="0">
              <a:spAutoFit/>
            </a:bodyPr>
            <a:lstStyle/>
            <a:p>
              <a:pPr algn="ctr" marL="0" indent="0" lvl="0">
                <a:lnSpc>
                  <a:spcPts val="3108"/>
                </a:lnSpc>
              </a:pPr>
              <a:r>
                <a:rPr lang="en-US" sz="2220" u="none">
                  <a:solidFill>
                    <a:srgbClr val="000000"/>
                  </a:solidFill>
                  <a:latin typeface="Open Sans 2"/>
                  <a:ea typeface="Open Sans 2"/>
                  <a:cs typeface="Open Sans 2"/>
                  <a:sym typeface="Open Sans 2"/>
                </a:rPr>
                <a:t>Discover the unparalleled advantages of StepSmart over other training programs for your career success.</a:t>
              </a:r>
            </a:p>
          </p:txBody>
        </p:sp>
      </p:grpSp>
      <p:sp>
        <p:nvSpPr>
          <p:cNvPr name="AutoShape 70" id="70"/>
          <p:cNvSpPr/>
          <p:nvPr/>
        </p:nvSpPr>
        <p:spPr>
          <a:xfrm rot="0">
            <a:off x="0" y="6184435"/>
            <a:ext cx="18288000" cy="4102565"/>
          </a:xfrm>
          <a:prstGeom prst="rect">
            <a:avLst/>
          </a:prstGeom>
          <a:solidFill>
            <a:srgbClr val="FFFFFF"/>
          </a:solidFill>
        </p:spPr>
      </p:sp>
      <p:grpSp>
        <p:nvGrpSpPr>
          <p:cNvPr name="Group 71" id="71"/>
          <p:cNvGrpSpPr/>
          <p:nvPr/>
        </p:nvGrpSpPr>
        <p:grpSpPr>
          <a:xfrm rot="0">
            <a:off x="1339652" y="7037691"/>
            <a:ext cx="4096961" cy="1933746"/>
            <a:chOff x="0" y="0"/>
            <a:chExt cx="5462614" cy="2578328"/>
          </a:xfrm>
        </p:grpSpPr>
        <p:grpSp>
          <p:nvGrpSpPr>
            <p:cNvPr name="Group 72" id="72"/>
            <p:cNvGrpSpPr/>
            <p:nvPr/>
          </p:nvGrpSpPr>
          <p:grpSpPr>
            <a:xfrm rot="0">
              <a:off x="1958240" y="634724"/>
              <a:ext cx="1546135" cy="746672"/>
              <a:chOff x="0" y="0"/>
              <a:chExt cx="1183407" cy="571500"/>
            </a:xfrm>
          </p:grpSpPr>
          <p:sp>
            <p:nvSpPr>
              <p:cNvPr name="Freeform 73" id="73"/>
              <p:cNvSpPr/>
              <p:nvPr/>
            </p:nvSpPr>
            <p:spPr>
              <a:xfrm flipH="false" flipV="false" rot="0">
                <a:off x="0" y="255270"/>
                <a:ext cx="1183407" cy="69850"/>
              </a:xfrm>
              <a:custGeom>
                <a:avLst/>
                <a:gdLst/>
                <a:ahLst/>
                <a:cxnLst/>
                <a:rect r="r" b="b" t="t" l="l"/>
                <a:pathLst>
                  <a:path h="69850" w="1183407">
                    <a:moveTo>
                      <a:pt x="892577" y="0"/>
                    </a:moveTo>
                    <a:lnTo>
                      <a:pt x="0" y="0"/>
                    </a:lnTo>
                    <a:lnTo>
                      <a:pt x="0" y="69850"/>
                    </a:lnTo>
                    <a:lnTo>
                      <a:pt x="1183407" y="69850"/>
                    </a:lnTo>
                    <a:lnTo>
                      <a:pt x="1183407" y="0"/>
                    </a:lnTo>
                    <a:close/>
                  </a:path>
                </a:pathLst>
              </a:custGeom>
              <a:solidFill>
                <a:srgbClr val="D9CFC2"/>
              </a:solidFill>
            </p:spPr>
          </p:sp>
        </p:grpSp>
        <p:sp>
          <p:nvSpPr>
            <p:cNvPr name="TextBox 74" id="74"/>
            <p:cNvSpPr txBox="true"/>
            <p:nvPr/>
          </p:nvSpPr>
          <p:spPr>
            <a:xfrm rot="0">
              <a:off x="0" y="-19050"/>
              <a:ext cx="5462614" cy="464054"/>
            </a:xfrm>
            <a:prstGeom prst="rect">
              <a:avLst/>
            </a:prstGeom>
          </p:spPr>
          <p:txBody>
            <a:bodyPr anchor="t" rtlCol="false" tIns="0" lIns="0" bIns="0" rIns="0">
              <a:spAutoFit/>
            </a:bodyPr>
            <a:lstStyle/>
            <a:p>
              <a:pPr algn="ctr" marL="0" indent="0" lvl="0">
                <a:lnSpc>
                  <a:spcPts val="2886"/>
                </a:lnSpc>
              </a:pPr>
              <a:r>
                <a:rPr lang="en-US" sz="2220" u="none">
                  <a:solidFill>
                    <a:srgbClr val="000000"/>
                  </a:solidFill>
                  <a:latin typeface="Open Sans 2"/>
                  <a:ea typeface="Open Sans 2"/>
                  <a:cs typeface="Open Sans 2"/>
                  <a:sym typeface="Open Sans 2"/>
                </a:rPr>
                <a:t>Personalized Learning</a:t>
              </a:r>
            </a:p>
          </p:txBody>
        </p:sp>
        <p:sp>
          <p:nvSpPr>
            <p:cNvPr name="TextBox 75" id="75"/>
            <p:cNvSpPr txBox="true"/>
            <p:nvPr/>
          </p:nvSpPr>
          <p:spPr>
            <a:xfrm rot="0">
              <a:off x="0" y="1689328"/>
              <a:ext cx="5462614" cy="889000"/>
            </a:xfrm>
            <a:prstGeom prst="rect">
              <a:avLst/>
            </a:prstGeom>
          </p:spPr>
          <p:txBody>
            <a:bodyPr anchor="t" rtlCol="false" tIns="0" lIns="0" bIns="0" rIns="0">
              <a:spAutoFit/>
            </a:bodyPr>
            <a:lstStyle/>
            <a:p>
              <a:pPr algn="ctr" marL="0" indent="0" lvl="0">
                <a:lnSpc>
                  <a:spcPts val="2664"/>
                </a:lnSpc>
                <a:spcBef>
                  <a:spcPct val="0"/>
                </a:spcBef>
              </a:pPr>
              <a:r>
                <a:rPr lang="en-US" sz="2220" u="none">
                  <a:solidFill>
                    <a:srgbClr val="000000"/>
                  </a:solidFill>
                  <a:latin typeface="Open Sans 2"/>
                  <a:ea typeface="Open Sans 2"/>
                  <a:cs typeface="Open Sans 2"/>
                  <a:sym typeface="Open Sans 2"/>
                </a:rPr>
                <a:t>Tailored programs for each individual.</a:t>
              </a:r>
            </a:p>
          </p:txBody>
        </p:sp>
      </p:grpSp>
      <p:grpSp>
        <p:nvGrpSpPr>
          <p:cNvPr name="Group 76" id="76"/>
          <p:cNvGrpSpPr/>
          <p:nvPr/>
        </p:nvGrpSpPr>
        <p:grpSpPr>
          <a:xfrm rot="0">
            <a:off x="6593476" y="7037691"/>
            <a:ext cx="4896428" cy="1933746"/>
            <a:chOff x="0" y="0"/>
            <a:chExt cx="6528571" cy="2578328"/>
          </a:xfrm>
        </p:grpSpPr>
        <p:grpSp>
          <p:nvGrpSpPr>
            <p:cNvPr name="Group 77" id="77"/>
            <p:cNvGrpSpPr/>
            <p:nvPr/>
          </p:nvGrpSpPr>
          <p:grpSpPr>
            <a:xfrm rot="0">
              <a:off x="2491218" y="634724"/>
              <a:ext cx="1546135" cy="746672"/>
              <a:chOff x="0" y="0"/>
              <a:chExt cx="1183407" cy="571500"/>
            </a:xfrm>
          </p:grpSpPr>
          <p:sp>
            <p:nvSpPr>
              <p:cNvPr name="Freeform 78" id="78"/>
              <p:cNvSpPr/>
              <p:nvPr/>
            </p:nvSpPr>
            <p:spPr>
              <a:xfrm flipH="false" flipV="false" rot="0">
                <a:off x="0" y="255270"/>
                <a:ext cx="1183407" cy="69850"/>
              </a:xfrm>
              <a:custGeom>
                <a:avLst/>
                <a:gdLst/>
                <a:ahLst/>
                <a:cxnLst/>
                <a:rect r="r" b="b" t="t" l="l"/>
                <a:pathLst>
                  <a:path h="69850" w="1183407">
                    <a:moveTo>
                      <a:pt x="892577" y="0"/>
                    </a:moveTo>
                    <a:lnTo>
                      <a:pt x="0" y="0"/>
                    </a:lnTo>
                    <a:lnTo>
                      <a:pt x="0" y="69850"/>
                    </a:lnTo>
                    <a:lnTo>
                      <a:pt x="1183407" y="69850"/>
                    </a:lnTo>
                    <a:lnTo>
                      <a:pt x="1183407" y="0"/>
                    </a:lnTo>
                    <a:close/>
                  </a:path>
                </a:pathLst>
              </a:custGeom>
              <a:solidFill>
                <a:srgbClr val="D9CFC2"/>
              </a:solidFill>
            </p:spPr>
          </p:sp>
        </p:grpSp>
        <p:sp>
          <p:nvSpPr>
            <p:cNvPr name="TextBox 79" id="79"/>
            <p:cNvSpPr txBox="true"/>
            <p:nvPr/>
          </p:nvSpPr>
          <p:spPr>
            <a:xfrm rot="0">
              <a:off x="0" y="-19050"/>
              <a:ext cx="6528571" cy="464054"/>
            </a:xfrm>
            <a:prstGeom prst="rect">
              <a:avLst/>
            </a:prstGeom>
          </p:spPr>
          <p:txBody>
            <a:bodyPr anchor="t" rtlCol="false" tIns="0" lIns="0" bIns="0" rIns="0">
              <a:spAutoFit/>
            </a:bodyPr>
            <a:lstStyle/>
            <a:p>
              <a:pPr algn="ctr" marL="0" indent="0" lvl="0">
                <a:lnSpc>
                  <a:spcPts val="2886"/>
                </a:lnSpc>
              </a:pPr>
              <a:r>
                <a:rPr lang="en-US" sz="2220" u="none">
                  <a:solidFill>
                    <a:srgbClr val="000000"/>
                  </a:solidFill>
                  <a:latin typeface="Open Sans 2"/>
                  <a:ea typeface="Open Sans 2"/>
                  <a:cs typeface="Open Sans 2"/>
                  <a:sym typeface="Open Sans 2"/>
                </a:rPr>
                <a:t>Industry Connections</a:t>
              </a:r>
            </a:p>
          </p:txBody>
        </p:sp>
        <p:sp>
          <p:nvSpPr>
            <p:cNvPr name="TextBox 80" id="80"/>
            <p:cNvSpPr txBox="true"/>
            <p:nvPr/>
          </p:nvSpPr>
          <p:spPr>
            <a:xfrm rot="0">
              <a:off x="532978" y="1689328"/>
              <a:ext cx="5462614" cy="889000"/>
            </a:xfrm>
            <a:prstGeom prst="rect">
              <a:avLst/>
            </a:prstGeom>
          </p:spPr>
          <p:txBody>
            <a:bodyPr anchor="t" rtlCol="false" tIns="0" lIns="0" bIns="0" rIns="0">
              <a:spAutoFit/>
            </a:bodyPr>
            <a:lstStyle/>
            <a:p>
              <a:pPr algn="ctr" marL="0" indent="0" lvl="0">
                <a:lnSpc>
                  <a:spcPts val="2664"/>
                </a:lnSpc>
                <a:spcBef>
                  <a:spcPct val="0"/>
                </a:spcBef>
              </a:pPr>
              <a:r>
                <a:rPr lang="en-US" sz="2220" u="none">
                  <a:solidFill>
                    <a:srgbClr val="000000"/>
                  </a:solidFill>
                  <a:latin typeface="Open Sans 2"/>
                  <a:ea typeface="Open Sans 2"/>
                  <a:cs typeface="Open Sans 2"/>
                  <a:sym typeface="Open Sans 2"/>
                </a:rPr>
                <a:t>Extensive partnerships with leading companies.</a:t>
              </a:r>
            </a:p>
          </p:txBody>
        </p:sp>
      </p:grpSp>
      <p:grpSp>
        <p:nvGrpSpPr>
          <p:cNvPr name="Group 81" id="81"/>
          <p:cNvGrpSpPr/>
          <p:nvPr/>
        </p:nvGrpSpPr>
        <p:grpSpPr>
          <a:xfrm rot="0">
            <a:off x="12434103" y="7037691"/>
            <a:ext cx="4514245" cy="1933746"/>
            <a:chOff x="0" y="0"/>
            <a:chExt cx="6018993" cy="2578328"/>
          </a:xfrm>
        </p:grpSpPr>
        <p:grpSp>
          <p:nvGrpSpPr>
            <p:cNvPr name="Group 82" id="82"/>
            <p:cNvGrpSpPr/>
            <p:nvPr/>
          </p:nvGrpSpPr>
          <p:grpSpPr>
            <a:xfrm rot="0">
              <a:off x="2236429" y="634724"/>
              <a:ext cx="1546135" cy="746672"/>
              <a:chOff x="0" y="0"/>
              <a:chExt cx="1183407" cy="571500"/>
            </a:xfrm>
          </p:grpSpPr>
          <p:sp>
            <p:nvSpPr>
              <p:cNvPr name="Freeform 83" id="83"/>
              <p:cNvSpPr/>
              <p:nvPr/>
            </p:nvSpPr>
            <p:spPr>
              <a:xfrm flipH="false" flipV="false" rot="0">
                <a:off x="0" y="255270"/>
                <a:ext cx="1183407" cy="69850"/>
              </a:xfrm>
              <a:custGeom>
                <a:avLst/>
                <a:gdLst/>
                <a:ahLst/>
                <a:cxnLst/>
                <a:rect r="r" b="b" t="t" l="l"/>
                <a:pathLst>
                  <a:path h="69850" w="1183407">
                    <a:moveTo>
                      <a:pt x="892577" y="0"/>
                    </a:moveTo>
                    <a:lnTo>
                      <a:pt x="0" y="0"/>
                    </a:lnTo>
                    <a:lnTo>
                      <a:pt x="0" y="69850"/>
                    </a:lnTo>
                    <a:lnTo>
                      <a:pt x="1183407" y="69850"/>
                    </a:lnTo>
                    <a:lnTo>
                      <a:pt x="1183407" y="0"/>
                    </a:lnTo>
                    <a:close/>
                  </a:path>
                </a:pathLst>
              </a:custGeom>
              <a:solidFill>
                <a:srgbClr val="D9CFC2"/>
              </a:solidFill>
            </p:spPr>
          </p:sp>
        </p:grpSp>
        <p:sp>
          <p:nvSpPr>
            <p:cNvPr name="TextBox 84" id="84"/>
            <p:cNvSpPr txBox="true"/>
            <p:nvPr/>
          </p:nvSpPr>
          <p:spPr>
            <a:xfrm rot="0">
              <a:off x="0" y="-19050"/>
              <a:ext cx="6018993" cy="464054"/>
            </a:xfrm>
            <a:prstGeom prst="rect">
              <a:avLst/>
            </a:prstGeom>
          </p:spPr>
          <p:txBody>
            <a:bodyPr anchor="t" rtlCol="false" tIns="0" lIns="0" bIns="0" rIns="0">
              <a:spAutoFit/>
            </a:bodyPr>
            <a:lstStyle/>
            <a:p>
              <a:pPr algn="ctr" marL="0" indent="0" lvl="0">
                <a:lnSpc>
                  <a:spcPts val="2886"/>
                </a:lnSpc>
              </a:pPr>
              <a:r>
                <a:rPr lang="en-US" sz="2220" u="none">
                  <a:solidFill>
                    <a:srgbClr val="000000"/>
                  </a:solidFill>
                  <a:latin typeface="Open Sans 2"/>
                  <a:ea typeface="Open Sans 2"/>
                  <a:cs typeface="Open Sans 2"/>
                  <a:sym typeface="Open Sans 2"/>
                </a:rPr>
                <a:t>Success Rates</a:t>
              </a:r>
            </a:p>
          </p:txBody>
        </p:sp>
        <p:sp>
          <p:nvSpPr>
            <p:cNvPr name="TextBox 85" id="85"/>
            <p:cNvSpPr txBox="true"/>
            <p:nvPr/>
          </p:nvSpPr>
          <p:spPr>
            <a:xfrm rot="0">
              <a:off x="278189" y="1689328"/>
              <a:ext cx="5462614" cy="889000"/>
            </a:xfrm>
            <a:prstGeom prst="rect">
              <a:avLst/>
            </a:prstGeom>
          </p:spPr>
          <p:txBody>
            <a:bodyPr anchor="t" rtlCol="false" tIns="0" lIns="0" bIns="0" rIns="0">
              <a:spAutoFit/>
            </a:bodyPr>
            <a:lstStyle/>
            <a:p>
              <a:pPr algn="ctr" marL="0" indent="0" lvl="0">
                <a:lnSpc>
                  <a:spcPts val="2664"/>
                </a:lnSpc>
                <a:spcBef>
                  <a:spcPct val="0"/>
                </a:spcBef>
              </a:pPr>
              <a:r>
                <a:rPr lang="en-US" sz="2220" u="none">
                  <a:solidFill>
                    <a:srgbClr val="000000"/>
                  </a:solidFill>
                  <a:latin typeface="Open Sans 2"/>
                  <a:ea typeface="Open Sans 2"/>
                  <a:cs typeface="Open Sans 2"/>
                  <a:sym typeface="Open Sans 2"/>
                </a:rPr>
                <a:t>Proven track record of graduates' achievements.</a:t>
              </a:r>
            </a:p>
          </p:txBody>
        </p:sp>
      </p:grpSp>
    </p:spTree>
  </p:cSld>
  <p:clrMapOvr>
    <a:masterClrMapping/>
  </p:clrMapOvr>
</p:sld>
</file>

<file path=ppt/slides/slide24.xml><?xml version="1.0" encoding="utf-8"?>
<p:sld xmlns:p="http://schemas.openxmlformats.org/presentationml/2006/main" xmlns:a="http://schemas.openxmlformats.org/drawingml/2006/main">
  <p:cSld>
    <p:bg>
      <p:bgPr>
        <a:solidFill>
          <a:srgbClr val="D9CFC2"/>
        </a:solidFill>
      </p:bgPr>
    </p:bg>
    <p:spTree>
      <p:nvGrpSpPr>
        <p:cNvPr id="1" name=""/>
        <p:cNvGrpSpPr/>
        <p:nvPr/>
      </p:nvGrpSpPr>
      <p:grpSpPr>
        <a:xfrm>
          <a:off x="0" y="0"/>
          <a:ext cx="0" cy="0"/>
          <a:chOff x="0" y="0"/>
          <a:chExt cx="0" cy="0"/>
        </a:xfrm>
      </p:grpSpPr>
      <p:grpSp>
        <p:nvGrpSpPr>
          <p:cNvPr name="Group 2" id="2"/>
          <p:cNvGrpSpPr/>
          <p:nvPr/>
        </p:nvGrpSpPr>
        <p:grpSpPr>
          <a:xfrm rot="0">
            <a:off x="-1672554" y="6568072"/>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EAE4D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4642156" y="-1150148"/>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88AB2"/>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2479"/>
                </a:lnSpc>
              </a:pPr>
            </a:p>
          </p:txBody>
        </p:sp>
      </p:grpSp>
      <p:sp>
        <p:nvSpPr>
          <p:cNvPr name="TextBox 8" id="8"/>
          <p:cNvSpPr txBox="true"/>
          <p:nvPr/>
        </p:nvSpPr>
        <p:spPr>
          <a:xfrm rot="0">
            <a:off x="7783785" y="4863465"/>
            <a:ext cx="2720429" cy="662941"/>
          </a:xfrm>
          <a:prstGeom prst="rect">
            <a:avLst/>
          </a:prstGeom>
        </p:spPr>
        <p:txBody>
          <a:bodyPr anchor="t" rtlCol="false" tIns="0" lIns="0" bIns="0" rIns="0">
            <a:spAutoFit/>
          </a:bodyPr>
          <a:lstStyle/>
          <a:p>
            <a:pPr algn="ctr">
              <a:lnSpc>
                <a:spcPts val="5459"/>
              </a:lnSpc>
              <a:spcBef>
                <a:spcPct val="0"/>
              </a:spcBef>
            </a:pPr>
            <a:r>
              <a:rPr lang="en-US" b="true" sz="3899">
                <a:solidFill>
                  <a:srgbClr val="000000"/>
                </a:solidFill>
                <a:latin typeface="Inter Bold"/>
                <a:ea typeface="Inter Bold"/>
                <a:cs typeface="Inter Bold"/>
                <a:sym typeface="Inter Bold"/>
              </a:rPr>
              <a:t>ADD A CTA</a:t>
            </a:r>
          </a:p>
        </p:txBody>
      </p:sp>
      <p:sp>
        <p:nvSpPr>
          <p:cNvPr name="TextBox 9" id="9"/>
          <p:cNvSpPr txBox="true"/>
          <p:nvPr/>
        </p:nvSpPr>
        <p:spPr>
          <a:xfrm rot="0">
            <a:off x="6964040" y="6194117"/>
            <a:ext cx="4359920"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2"/>
                <a:ea typeface="Open Sans 2"/>
                <a:cs typeface="Open Sans 2"/>
                <a:sym typeface="Open Sans 2"/>
              </a:rPr>
              <a:t>Campys Ambassador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DAGuQRppLnM</dc:identifier>
  <dcterms:modified xsi:type="dcterms:W3CDTF">2011-08-01T06:04:30Z</dcterms:modified>
  <cp:revision>1</cp:revision>
  <dc:title>AI and Mentor</dc:title>
</cp:coreProperties>
</file>